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015d1dc48904029" /><Relationship Type="http://schemas.openxmlformats.org/officeDocument/2006/relationships/extended-properties" Target="/docProps/app.xml" Id="R5390163adb9244b6" /><Relationship Type="http://schemas.openxmlformats.org/officeDocument/2006/relationships/officeDocument" Target="/ppt/presentation.xml" Id="R91543dde41db4d9b" /></Relationships>
</file>

<file path=ppt/presentation.xml><?xml version="1.0" encoding="utf-8"?>
<p:presentation xmlns:p="http://schemas.openxmlformats.org/presentationml/2006/main">
  <p:sldMasterIdLst>
    <p:sldMasterId xmlns:r="http://schemas.openxmlformats.org/officeDocument/2006/relationships" id="2147483648" r:id="Rf488e447145c4434"/>
  </p:sldMasterIdLst>
  <p:notesMasterIdLst>
    <p:notesMasterId xmlns:r="http://schemas.openxmlformats.org/officeDocument/2006/relationships" r:id="R2a598fa5f6b0481b"/>
  </p:notesMasterIdLst>
  <p:sldIdLst>
    <p:sldId xmlns:r="http://schemas.openxmlformats.org/officeDocument/2006/relationships" id="256" r:id="Rdcc83723d4304d62"/>
    <p:sldId xmlns:r="http://schemas.openxmlformats.org/officeDocument/2006/relationships" id="257" r:id="Re2e993292efb4228"/>
    <p:sldId xmlns:r="http://schemas.openxmlformats.org/officeDocument/2006/relationships" id="258" r:id="R31ba936073364b08"/>
    <p:sldId xmlns:r="http://schemas.openxmlformats.org/officeDocument/2006/relationships" id="259" r:id="R1734ac9657584d3f"/>
    <p:sldId xmlns:r="http://schemas.openxmlformats.org/officeDocument/2006/relationships" id="260" r:id="Rd10256c62c6644b7"/>
    <p:sldId xmlns:r="http://schemas.openxmlformats.org/officeDocument/2006/relationships" id="261" r:id="Rcf59391e428c4ad3"/>
    <p:sldId xmlns:r="http://schemas.openxmlformats.org/officeDocument/2006/relationships" id="262" r:id="R4f0768d771804692"/>
    <p:sldId xmlns:r="http://schemas.openxmlformats.org/officeDocument/2006/relationships" id="263" r:id="Rb6eeac0cb1c145d7"/>
    <p:sldId xmlns:r="http://schemas.openxmlformats.org/officeDocument/2006/relationships" id="264" r:id="R687aac68eb3d47c5"/>
    <p:sldId xmlns:r="http://schemas.openxmlformats.org/officeDocument/2006/relationships" id="265" r:id="R4f72402d2d244977"/>
    <p:sldId xmlns:r="http://schemas.openxmlformats.org/officeDocument/2006/relationships" id="266" r:id="Ra208f3f1900a43e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cb5a440ac3546aa" /><Relationship Type="http://schemas.openxmlformats.org/officeDocument/2006/relationships/slideMaster" Target="/ppt/slideMasters/slideMaster1.xml" Id="Rf488e447145c4434" /><Relationship Type="http://schemas.openxmlformats.org/officeDocument/2006/relationships/notesMaster" Target="/ppt/notesMasters/notesMaster1.xml" Id="R2a598fa5f6b0481b" /><Relationship Type="http://schemas.openxmlformats.org/officeDocument/2006/relationships/presProps" Target="/ppt/presProps.xml" Id="Rfd03b633077d48b4" /><Relationship Type="http://schemas.openxmlformats.org/officeDocument/2006/relationships/tableStyles" Target="/ppt/tableStyles.xml" Id="R154460bf17f542e6" /><Relationship Type="http://schemas.openxmlformats.org/officeDocument/2006/relationships/slide" Target="/ppt/slides/slide1.xml" Id="Rdcc83723d4304d62" /><Relationship Type="http://schemas.openxmlformats.org/officeDocument/2006/relationships/slide" Target="/ppt/slides/slide2.xml" Id="Re2e993292efb4228" /><Relationship Type="http://schemas.openxmlformats.org/officeDocument/2006/relationships/slide" Target="/ppt/slides/slide3.xml" Id="R31ba936073364b08" /><Relationship Type="http://schemas.openxmlformats.org/officeDocument/2006/relationships/slide" Target="/ppt/slides/slide4.xml" Id="R1734ac9657584d3f" /><Relationship Type="http://schemas.openxmlformats.org/officeDocument/2006/relationships/slide" Target="/ppt/slides/slide5.xml" Id="Rd10256c62c6644b7" /><Relationship Type="http://schemas.openxmlformats.org/officeDocument/2006/relationships/slide" Target="/ppt/slides/slide6.xml" Id="Rcf59391e428c4ad3" /><Relationship Type="http://schemas.openxmlformats.org/officeDocument/2006/relationships/slide" Target="/ppt/slides/slide7.xml" Id="R4f0768d771804692" /><Relationship Type="http://schemas.openxmlformats.org/officeDocument/2006/relationships/slide" Target="/ppt/slides/slide8.xml" Id="Rb6eeac0cb1c145d7" /><Relationship Type="http://schemas.openxmlformats.org/officeDocument/2006/relationships/slide" Target="/ppt/slides/slide9.xml" Id="R687aac68eb3d47c5" /><Relationship Type="http://schemas.openxmlformats.org/officeDocument/2006/relationships/slide" Target="/ppt/slides/slide10.xml" Id="R4f72402d2d244977" /><Relationship Type="http://schemas.openxmlformats.org/officeDocument/2006/relationships/slide" Target="/ppt/slides/slide11.xml" Id="Ra208f3f1900a43e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f8bf8242d944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5bb38bf8de4e44" /><Relationship Type="http://schemas.openxmlformats.org/officeDocument/2006/relationships/notesMaster" Target="/ppt/notesMasters/notesMaster1.xml" Id="R5ddec804d02d4f7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dfc083983d94336" /><Relationship Type="http://schemas.openxmlformats.org/officeDocument/2006/relationships/notesMaster" Target="/ppt/notesMasters/notesMaster1.xml" Id="Rc966ede6c162444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0be783019244dcb" /><Relationship Type="http://schemas.openxmlformats.org/officeDocument/2006/relationships/notesMaster" Target="/ppt/notesMasters/notesMaster1.xml" Id="R02473cc7b7a54a6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ead0ab59c9c4349" /><Relationship Type="http://schemas.openxmlformats.org/officeDocument/2006/relationships/notesMaster" Target="/ppt/notesMasters/notesMaster1.xml" Id="Reedfaf6bdbc34bc7"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635ce790fd4bcc" /><Relationship Type="http://schemas.openxmlformats.org/officeDocument/2006/relationships/notesMaster" Target="/ppt/notesMasters/notesMaster1.xml" Id="Rb528bb00254e4df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2ac9842d2754091" /><Relationship Type="http://schemas.openxmlformats.org/officeDocument/2006/relationships/notesMaster" Target="/ppt/notesMasters/notesMaster1.xml" Id="R405df801158248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3f0a5bb9f72d4294" /><Relationship Type="http://schemas.openxmlformats.org/officeDocument/2006/relationships/notesMaster" Target="/ppt/notesMasters/notesMaster1.xml" Id="Re2d41c20572641af" /></Relationships>
</file>

<file path=ppt/notesSlides/_rels/notesSlide8.xml.rels>&#65279;<?xml version="1.0" encoding="utf-8"?><Relationships xmlns="http://schemas.openxmlformats.org/package/2006/relationships"><Relationship Type="http://schemas.openxmlformats.org/officeDocument/2006/relationships/slide" Target="/ppt/slides/slide8.xml" Id="Rcc7ab20d8a4b463e" /><Relationship Type="http://schemas.openxmlformats.org/officeDocument/2006/relationships/notesMaster" Target="/ppt/notesMasters/notesMaster1.xml" Id="Rb172623a49f34196" /></Relationships>
</file>

<file path=ppt/notesSlides/_rels/notesSlide9.xml.rels>&#65279;<?xml version="1.0" encoding="utf-8"?><Relationships xmlns="http://schemas.openxmlformats.org/package/2006/relationships"><Relationship Type="http://schemas.openxmlformats.org/officeDocument/2006/relationships/slide" Target="/ppt/slides/slide9.xml" Id="Rf7a3eff3d7134624" /><Relationship Type="http://schemas.openxmlformats.org/officeDocument/2006/relationships/notesMaster" Target="/ppt/notesMasters/notesMaster1.xml" Id="Rbb7bbfdb77d24ba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60d4a8e98764904" /><Relationship Type="http://schemas.openxmlformats.org/officeDocument/2006/relationships/notesMaster" Target="/ppt/notesMasters/notesMaster1.xml" Id="R035fd2d0ee03425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763d33c799a4c39" /><Relationship Type="http://schemas.openxmlformats.org/officeDocument/2006/relationships/notesMaster" Target="/ppt/notesMasters/notesMaster1.xml" Id="Red5a3d1b98b745e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Présenter le besoin : retrouver des questions dans un dump Stack Exchange, avec des filtres et des droits. Le livrable porte sur la base et les fonctions SQL. Il ne comprend pas d’interface web. Source : LAB_05.pdf, partie 10, Teams ISITECH.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30. Expliquer le choix de Coffee : jeu assez petit pour être relancé, mais contenant de vrais textes, des votes et des références manquantes. Source : datasets/manifest.json et datasets/README.md. Les 2 219 votes orphelins sont exclus. Un compte neutre remplace une référence absente. Les profils et textes restent attribués à leurs auteurs sur coffee.stackexchange.com.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30. Décrire users, post_ids, posts, comments, votes et tags. Une clé unique sur une table partitionnée doit inclure la clé de partitionnement. post_ids garantit l’unicité globale de l’identifiant. Une partition par défaut conserve les dates hors des années préparées. Source : https://www.postgresql.org/docs/16/ddl-partitioning.html et projet_final.sql.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Détailler tsvector, websearch_to_tsquery et ts_headline. Les titres ont le poids A, le corps le poids B. Les correspondances exactes restent prioritaires. Si moins de cinq résultats FTS existent, pg_trgm complète la recherche. Le classement ajoute le score, les vues et l’âge. Sources : https://www.postgresql.org/docs/16/textsearch-indexes.html et https://www.postgresql.org/docs/16/pgtrgm.html.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30. Expliquer le ET entre les tags et la date de fin inclusive. Les tests vérifient les mauvais types JSON et les filtres inconnus. La pagination conserve un tri stable par pertinence puis identifiant. Source : projet_final.sql, validate_search_filters, faceted_search et advanced_search.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Expliquer la différence entre rôle PostgreSQL et contexte applicatif. Le serveur authentifié doit fixer tenant et user dans la transaction. Un lecteur voit les publics et ses privés. Le modérateur voit tous les posts de son tenant. L’admin voit tout. Démontrer qu’un cache construit par l’admin ne se retrouve pas chez le lecteur. Sources : tests/projet.sql et https://www.postgresql.org/docs/16/ddl-rowsecurity.html.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30. Montrer le cas Scholar : la modification porte sur la question, mais le badge revient à l’auteur de la réponse acceptée. Les votes sont couverts sur INSERT et UPDATE. Les badges existants ne sont pas réattribués. Les compteurs suivent l’ajout, le déplacement et la suppression de réponses. Source : tests/projet.sql et projet_final.sql.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minutes. 150 appels sans cache applicatif et 150 avec, répartis sur cinq recherches. PostgreSQL 18.6 sous Ubuntu. Le cache de pages reste chaud. Les temps mesurent le serveur, pas le réseau ni un client concurrent. Le maximum sans cache dépasse 100 ms : l’objectif porte sur le 95e percentile. Sources : rapports/benchmark.json, tests/benchmark.sql.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30. Décrire la requête avant avec sous-requêtes corrélées et la version après : candidats, agrégation des votes, classement, puis commentaires des résultats retenus. Les deux résultats sont comparés avec EXCEPT ALL. Les chiffres sont des mesures locales et ne prouvent pas une accélération universelle. Source : tests/optimisation.sql et rapports/optimisation.json.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minutes. Suivre docs/DEMONSTRATION.md et sql/demo.sql. Exécuter une recherche, répéter pour montrer le cache, faire une faute de frappe, puis activer RLS en changeant de rôle. Pour les cas privés précis, lancer tests/projet.sql : ses données temporaires sont annulées. Terminer par le dashboard et la vue file_fdw. Ne pas utiliser un superutilisateur pour prouver RLS.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puis questions. Le test ne simule ni un trafic concurrent ni des millions de posts. Les variables de session ne remplacent pas l’authentification. La gestion des clés de chiffrement est une démonstration. Proposer d’expliquer GIN/GiST, les clés de partition, la différence entre GROUP BY et fonctions fenêtre, ou la façon de tester RLS. Le support oral est préparé, sa présentation en direct reste à faire.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36a6feec7c4471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f22b2f2107e482b" /><Relationship Type="http://schemas.openxmlformats.org/officeDocument/2006/relationships/slideLayout" Target="/ppt/slideLayouts/slideLayout1.xml" Id="Re3b2ca9b83a048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3b2ca9b83a048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98310985cb84ea2" /><Relationship Type="http://schemas.openxmlformats.org/officeDocument/2006/relationships/notesSlide" Target="/ppt/notesSlides/notesSlide1.xml" Id="Rea7310a04bcb4ca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1c7395b814e41fe" /><Relationship Type="http://schemas.openxmlformats.org/officeDocument/2006/relationships/notesSlide" Target="/ppt/notesSlides/notesSlide2.xml" Id="R196e187b3ab141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2f77fa0c7184749" /><Relationship Type="http://schemas.openxmlformats.org/officeDocument/2006/relationships/notesSlide" Target="/ppt/notesSlides/notesSlide3.xml" Id="R9c6396e0e75f44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d905a9f0cb842a9" /><Relationship Type="http://schemas.openxmlformats.org/officeDocument/2006/relationships/notesSlide" Target="/ppt/notesSlides/notesSlide4.xml" Id="R5ed1966acb674f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8419200bf424412" /><Relationship Type="http://schemas.openxmlformats.org/officeDocument/2006/relationships/notesSlide" Target="/ppt/notesSlides/notesSlide5.xml" Id="Rf5931715fe0545e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c1c1d9ec49d470b" /><Relationship Type="http://schemas.openxmlformats.org/officeDocument/2006/relationships/notesSlide" Target="/ppt/notesSlides/notesSlide6.xml" Id="Ra088b332de1d445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26a638cc3c44e73" /><Relationship Type="http://schemas.openxmlformats.org/officeDocument/2006/relationships/notesSlide" Target="/ppt/notesSlides/notesSlide7.xml" Id="Rab20fe388bc84b2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f77c13ed0154f25" /><Relationship Type="http://schemas.openxmlformats.org/officeDocument/2006/relationships/chart" Target="/ppt/slides/charts/chart1.xml" Id="Rdfd74275813e48b8" /><Relationship Type="http://schemas.openxmlformats.org/officeDocument/2006/relationships/notesSlide" Target="/ppt/notesSlides/notesSlide8.xml" Id="R6e09f5dbcca5466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c2550b0d82f4a85" /><Relationship Type="http://schemas.openxmlformats.org/officeDocument/2006/relationships/notesSlide" Target="/ppt/notesSlides/notesSlide9.xml" Id="R2b41031b64cd4eb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ec8e5c638974d85" /><Relationship Type="http://schemas.openxmlformats.org/officeDocument/2006/relationships/notesSlide" Target="/ppt/notesSlides/notesSlide10.xml" Id="R02f39af6fa7f478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ba896bdc9c545a9" /><Relationship Type="http://schemas.openxmlformats.org/officeDocument/2006/relationships/notesSlide" Target="/ppt/notesSlides/notesSlide11.xml" Id="R27c64e807b52499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95e percentile en ms</c:v>
          </c:tx>
          <c:spPr>
            <a:solidFill xmlns:a="http://schemas.openxmlformats.org/drawingml/2006/main">
              <a:srgbClr val="267F74"/>
            </a:solidFill>
          </c:spPr>
          <c:dLbls>
            <c:dLbl>
              <c:idx val="0"/>
              <c:tx>
                <c:rich>
                  <a:bodyPr xmlns:a="http://schemas.openxmlformats.org/drawingml/2006/main"/>
                  <a:lstStyle xmlns:a="http://schemas.openxmlformats.org/drawingml/2006/main"/>
                  <a:p xmlns:a="http://schemas.openxmlformats.org/drawingml/2006/main">
                    <a:r>
                      <a:rPr sz="1725">
                        <a:latin typeface="Arial"/>
                        <a:ea typeface="Arial"/>
                        <a:cs typeface="Arial"/>
                      </a:rPr>
                      <a:t>65,603 ms</a:t>
                    </a:r>
                  </a:p>
                </c:rich>
              </c:tx>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a:latin typeface="Arial"/>
                        <a:ea typeface="Arial"/>
                        <a:cs typeface="Arial"/>
                      </a:rPr>
                      <a:t>0,193 ms</a:t>
                    </a:r>
                  </a:p>
                </c:rich>
              </c:tx>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0"/>
              <c:showCatName val="0"/>
              <c:showSerName val="0"/>
              <c:showPercent val="0"/>
              <c:showBubbleSize val="0"/>
            </c:dLbl>
          </c:dLbls>
          <c:cat>
            <c:strRef>
              <c:f>'Chart Data'!$A$2:$A$3</c:f>
              <c:strCache>
                <c:ptCount val="2"/>
                <c:pt idx="0">
                  <c:v>Sans cache applicatif</c:v>
                </c:pt>
                <c:pt idx="1">
                  <c:v>Avec cache applicatif</c:v>
                </c:pt>
              </c:strCache>
            </c:strRef>
          </c:cat>
          <c:val>
            <c:numRef>
              <c:f>'Chart Data'!$B$2:$B$3</c:f>
              <c:numCache>
                <c:formatCode>0.000</c:formatCode>
                <c:ptCount val="2"/>
                <c:pt idx="0">
                  <c:v>65.603</c:v>
                </c:pt>
                <c:pt idx="1">
                  <c:v>0.193</c:v>
                </c:pt>
              </c:numCache>
            </c:numRef>
          </c:val>
        </c:ser>
        <c:dLbls>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304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91BF68F-AD49-4337-995D-D2FAB0C8877D}"/>
              </a:ext>
            </a:extLst>
          </p:cNvPr>
          <p:cNvSpPr>
            <a:spLocks xmlns:a="http://schemas.openxmlformats.org/drawingml/2006/main" noGrp="1"/>
          </p:cNvSpPr>
          <p:nvPr/>
        </p:nvSpPr>
        <p:spPr>
          <a:xfrm xmlns:a="http://schemas.openxmlformats.org/drawingml/2006/main">
            <a:off x="809625" y="1714500"/>
            <a:ext cx="10477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Moteur de recherche</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PostgreSQL</a:t>
            </a:r>
          </a:p>
        </p:txBody>
      </p:sp>
      <p:sp>
        <p:nvSpPr>
          <p:cNvPr id="2" name="">
            <a:extLst xmlns:a="http://schemas.openxmlformats.org/drawingml/2006/main">
              <a:ext uri="{FF2B5EF4-FFF2-40B4-BE49-F238E27FC236}">
                <a16:creationId xmlns:a16="http://schemas.microsoft.com/office/drawing/2014/main" id="{0A04E084-7C60-403E-96FA-8215C4FA4332}"/>
              </a:ext>
            </a:extLst>
          </p:cNvPr>
          <p:cNvSpPr>
            <a:spLocks xmlns:a="http://schemas.openxmlformats.org/drawingml/2006/main" noGrp="1"/>
          </p:cNvSpPr>
          <p:nvPr/>
        </p:nvSpPr>
        <p:spPr>
          <a:xfrm xmlns:a="http://schemas.openxmlformats.org/drawingml/2006/main">
            <a:off x="838200" y="3810000"/>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97D2C8"/>
                </a:solidFill>
                <a:latin typeface="Arial"/>
                <a:ea typeface="Arial"/>
                <a:cs typeface="Arial"/>
              </a:defRPr>
            </a:pPr>
            <a:r>
              <a:rPr sz="2400" b="0">
                <a:solidFill>
                  <a:srgbClr val="97D2C8"/>
                </a:solidFill>
                <a:latin typeface="Arial"/>
                <a:ea typeface="Arial"/>
                <a:cs typeface="Arial"/>
              </a:rPr>
              <a:t>Coffee Stack Exchange</a:t>
            </a:r>
          </a:p>
        </p:txBody>
      </p:sp>
      <p:sp>
        <p:nvSpPr>
          <p:cNvPr id="3" name="">
            <a:extLst xmlns:a="http://schemas.openxmlformats.org/drawingml/2006/main">
              <a:ext uri="{FF2B5EF4-FFF2-40B4-BE49-F238E27FC236}">
                <a16:creationId xmlns:a16="http://schemas.microsoft.com/office/drawing/2014/main" id="{380EF864-DE2E-497D-8B4A-CD876DF38182}"/>
              </a:ext>
            </a:extLst>
          </p:cNvPr>
          <p:cNvSpPr>
            <a:spLocks xmlns:a="http://schemas.openxmlformats.org/drawingml/2006/main" noGrp="1"/>
          </p:cNvSpPr>
          <p:nvPr/>
        </p:nvSpPr>
        <p:spPr>
          <a:xfrm xmlns:a="http://schemas.openxmlformats.org/drawingml/2006/main">
            <a:off x="838200" y="5286375"/>
            <a:ext cx="857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Keenan MARTIN</a:t>
            </a:r>
          </a:p>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SQL B3, ISITECH Lyon</a:t>
            </a:r>
          </a:p>
        </p:txBody>
      </p:sp>
    </p:spTree>
    <p:extLst>
      <p:ext uri="{BB962C8B-B14F-4D97-AF65-F5344CB8AC3E}">
        <p14:creationId xmlns:p14="http://schemas.microsoft.com/office/powerpoint/2010/main" val="51310383"/>
      </p:ext>
    </p:extLst>
  </p:cSld>
</p:sld>
</file>

<file path=ppt/slides/slide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A200F9C-4C1A-4685-9A20-52CE87947B85}"/>
              </a:ext>
            </a:extLst>
          </p:cNvPr>
          <p:cNvSpPr>
            <a:spLocks xmlns:a="http://schemas.openxmlformats.org/drawingml/2006/main" noGrp="1"/>
          </p:cNvSpPr>
          <p:nvPr/>
        </p:nvSpPr>
        <p:spPr>
          <a:xfrm xmlns:a="http://schemas.openxmlformats.org/drawingml/2006/main">
            <a:off x="714375" y="5238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047"/>
                </a:solidFill>
                <a:latin typeface="Arial"/>
                <a:ea typeface="Arial"/>
                <a:cs typeface="Arial"/>
              </a:defRPr>
            </a:pPr>
            <a:r>
              <a:rPr sz="3300" b="1">
                <a:solidFill>
                  <a:srgbClr val="173047"/>
                </a:solidFill>
                <a:latin typeface="Arial"/>
                <a:ea typeface="Arial"/>
                <a:cs typeface="Arial"/>
              </a:rPr>
              <a:t>Un dump réel pour vérifier les requêtes</a:t>
            </a:r>
          </a:p>
        </p:txBody>
      </p:sp>
      <p:sp>
        <p:nvSpPr>
          <p:cNvPr id="2" name="">
            <a:extLst xmlns:a="http://schemas.openxmlformats.org/drawingml/2006/main">
              <a:ext uri="{FF2B5EF4-FFF2-40B4-BE49-F238E27FC236}">
                <a16:creationId xmlns:a16="http://schemas.microsoft.com/office/drawing/2014/main" id="{68229B72-003C-446A-9B26-EFBECCCC13CD}"/>
              </a:ext>
            </a:extLst>
          </p:cNvPr>
          <p:cNvSpPr>
            <a:spLocks xmlns:a="http://schemas.openxmlformats.org/drawingml/2006/main" noGrp="1"/>
          </p:cNvSpPr>
          <p:nvPr/>
        </p:nvSpPr>
        <p:spPr>
          <a:xfrm xmlns:a="http://schemas.openxmlformats.org/drawingml/2006/main">
            <a:off x="11096625" y="62865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8096"/>
                </a:solidFill>
                <a:latin typeface="Arial"/>
                <a:ea typeface="Arial"/>
                <a:cs typeface="Arial"/>
              </a:defRPr>
            </a:pPr>
            <a:r>
              <a:rPr sz="1350" b="0">
                <a:solidFill>
                  <a:srgbClr val="718096"/>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9867A598-AFD6-4BB9-BB63-EE9A313F6F6B}"/>
              </a:ext>
            </a:extLst>
          </p:cNvPr>
          <p:cNvSpPr>
            <a:spLocks xmlns:a="http://schemas.openxmlformats.org/drawingml/2006/main" noGrp="1"/>
          </p:cNvSpPr>
          <p:nvPr/>
        </p:nvSpPr>
        <p:spPr>
          <a:xfrm xmlns:a="http://schemas.openxmlformats.org/drawingml/2006/main">
            <a:off x="762000" y="2047875"/>
            <a:ext cx="1019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267F74"/>
                </a:solidFill>
                <a:latin typeface="Arial"/>
                <a:ea typeface="Arial"/>
                <a:cs typeface="Arial"/>
              </a:defRPr>
            </a:pPr>
            <a:r>
              <a:rPr sz="4350" b="1">
                <a:solidFill>
                  <a:srgbClr val="267F74"/>
                </a:solidFill>
                <a:latin typeface="Arial"/>
                <a:ea typeface="Arial"/>
                <a:cs typeface="Arial"/>
              </a:rPr>
              <a:t>4 525 posts</a:t>
            </a:r>
          </a:p>
        </p:txBody>
      </p:sp>
      <p:sp>
        <p:nvSpPr>
          <p:cNvPr id="4" name="">
            <a:extLst xmlns:a="http://schemas.openxmlformats.org/drawingml/2006/main">
              <a:ext uri="{FF2B5EF4-FFF2-40B4-BE49-F238E27FC236}">
                <a16:creationId xmlns:a16="http://schemas.microsoft.com/office/drawing/2014/main" id="{973A91AB-7DB4-4D2E-9113-F0998C5408BB}"/>
              </a:ext>
            </a:extLst>
          </p:cNvPr>
          <p:cNvSpPr>
            <a:spLocks xmlns:a="http://schemas.openxmlformats.org/drawingml/2006/main" noGrp="1"/>
          </p:cNvSpPr>
          <p:nvPr/>
        </p:nvSpPr>
        <p:spPr>
          <a:xfrm xmlns:a="http://schemas.openxmlformats.org/drawingml/2006/main">
            <a:off x="762000" y="3095625"/>
            <a:ext cx="1019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73047"/>
                </a:solidFill>
                <a:latin typeface="Arial"/>
                <a:ea typeface="Arial"/>
                <a:cs typeface="Arial"/>
              </a:defRPr>
            </a:pPr>
            <a:r>
              <a:rPr sz="2700" b="0">
                <a:solidFill>
                  <a:srgbClr val="173047"/>
                </a:solidFill>
                <a:latin typeface="Arial"/>
                <a:ea typeface="Arial"/>
                <a:cs typeface="Arial"/>
              </a:rPr>
              <a:t>19 909 votes   /   4 985 commentaires</a:t>
            </a:r>
          </a:p>
        </p:txBody>
      </p:sp>
      <p:sp>
        <p:nvSpPr>
          <p:cNvPr id="5" name="">
            <a:extLst xmlns:a="http://schemas.openxmlformats.org/drawingml/2006/main">
              <a:ext uri="{FF2B5EF4-FFF2-40B4-BE49-F238E27FC236}">
                <a16:creationId xmlns:a16="http://schemas.microsoft.com/office/drawing/2014/main" id="{92B777DA-3C9C-45BD-B341-EB28A40A0CC9}"/>
              </a:ext>
            </a:extLst>
          </p:cNvPr>
          <p:cNvSpPr>
            <a:spLocks xmlns:a="http://schemas.openxmlformats.org/drawingml/2006/main" noGrp="1"/>
          </p:cNvSpPr>
          <p:nvPr/>
        </p:nvSpPr>
        <p:spPr>
          <a:xfrm xmlns:a="http://schemas.openxmlformats.org/drawingml/2006/main">
            <a:off x="762000" y="4238625"/>
            <a:ext cx="10191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047"/>
                </a:solidFill>
                <a:latin typeface="Arial"/>
                <a:ea typeface="Arial"/>
                <a:cs typeface="Arial"/>
              </a:defRPr>
            </a:pPr>
            <a:r>
              <a:rPr sz="2100" b="0">
                <a:solidFill>
                  <a:srgbClr val="173047"/>
                </a:solidFill>
                <a:latin typeface="Arial"/>
                <a:ea typeface="Arial"/>
                <a:cs typeface="Arial"/>
              </a:rPr>
              <a:t>Import XML puis CSV</a:t>
            </a:r>
          </a:p>
          <a:p xmlns:a="http://schemas.openxmlformats.org/drawingml/2006/main">
            <a:pPr>
              <a:defRPr sz="2100" b="0">
                <a:solidFill>
                  <a:srgbClr val="173047"/>
                </a:solidFill>
                <a:latin typeface="Arial"/>
                <a:ea typeface="Arial"/>
                <a:cs typeface="Arial"/>
              </a:defRPr>
            </a:pPr>
            <a:r>
              <a:rPr sz="2100" b="0">
                <a:solidFill>
                  <a:srgbClr val="173047"/>
                </a:solidFill>
                <a:latin typeface="Arial"/>
                <a:ea typeface="Arial"/>
                <a:cs typeface="Arial"/>
              </a:rPr>
              <a:t>Empreintes SHA-256 contrôlées</a:t>
            </a:r>
          </a:p>
          <a:p xmlns:a="http://schemas.openxmlformats.org/drawingml/2006/main">
            <a:pPr>
              <a:defRPr sz="2100" b="0">
                <a:solidFill>
                  <a:srgbClr val="173047"/>
                </a:solidFill>
                <a:latin typeface="Arial"/>
                <a:ea typeface="Arial"/>
                <a:cs typeface="Arial"/>
              </a:defRPr>
            </a:pPr>
            <a:r>
              <a:rPr sz="2100" b="0">
                <a:solidFill>
                  <a:srgbClr val="173047"/>
                </a:solidFill>
                <a:latin typeface="Arial"/>
                <a:ea typeface="Arial"/>
                <a:cs typeface="Arial"/>
              </a:rPr>
              <a:t>Données historiques, sans changement de dates</a:t>
            </a:r>
          </a:p>
        </p:txBody>
      </p:sp>
    </p:spTree>
    <p:extLst>
      <p:ext uri="{BB962C8B-B14F-4D97-AF65-F5344CB8AC3E}">
        <p14:creationId xmlns:p14="http://schemas.microsoft.com/office/powerpoint/2010/main" val="1856842281"/>
      </p:ext>
    </p:extLst>
  </p:cSld>
</p:sld>
</file>

<file path=ppt/slides/slide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A5A7FFA-1ED7-4364-BC43-E74A9EACD33D}"/>
              </a:ext>
            </a:extLst>
          </p:cNvPr>
          <p:cNvSpPr>
            <a:spLocks xmlns:a="http://schemas.openxmlformats.org/drawingml/2006/main" noGrp="1"/>
          </p:cNvSpPr>
          <p:nvPr/>
        </p:nvSpPr>
        <p:spPr>
          <a:xfrm xmlns:a="http://schemas.openxmlformats.org/drawingml/2006/main">
            <a:off x="714375" y="5238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047"/>
                </a:solidFill>
                <a:latin typeface="Arial"/>
                <a:ea typeface="Arial"/>
                <a:cs typeface="Arial"/>
              </a:defRPr>
            </a:pPr>
            <a:r>
              <a:rPr sz="3300" b="1">
                <a:solidFill>
                  <a:srgbClr val="173047"/>
                </a:solidFill>
                <a:latin typeface="Arial"/>
                <a:ea typeface="Arial"/>
                <a:cs typeface="Arial"/>
              </a:rPr>
              <a:t>Une identité globale pour les posts</a:t>
            </a:r>
          </a:p>
        </p:txBody>
      </p:sp>
      <p:sp>
        <p:nvSpPr>
          <p:cNvPr id="2" name="">
            <a:extLst xmlns:a="http://schemas.openxmlformats.org/drawingml/2006/main">
              <a:ext uri="{FF2B5EF4-FFF2-40B4-BE49-F238E27FC236}">
                <a16:creationId xmlns:a16="http://schemas.microsoft.com/office/drawing/2014/main" id="{7EC93809-AE3E-4BF8-89C8-654676E948EB}"/>
              </a:ext>
            </a:extLst>
          </p:cNvPr>
          <p:cNvSpPr>
            <a:spLocks xmlns:a="http://schemas.openxmlformats.org/drawingml/2006/main" noGrp="1"/>
          </p:cNvSpPr>
          <p:nvPr/>
        </p:nvSpPr>
        <p:spPr>
          <a:xfrm xmlns:a="http://schemas.openxmlformats.org/drawingml/2006/main">
            <a:off x="11096625" y="62865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8096"/>
                </a:solidFill>
                <a:latin typeface="Arial"/>
                <a:ea typeface="Arial"/>
                <a:cs typeface="Arial"/>
              </a:defRPr>
            </a:pPr>
            <a:r>
              <a:rPr sz="1350" b="0">
                <a:solidFill>
                  <a:srgbClr val="718096"/>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C4F757A8-8955-44B8-B4E1-BD1BB6DD2B86}"/>
              </a:ext>
            </a:extLst>
          </p:cNvPr>
          <p:cNvSpPr>
            <a:spLocks xmlns:a="http://schemas.openxmlformats.org/drawingml/2006/main" noGrp="1"/>
          </p:cNvSpPr>
          <p:nvPr/>
        </p:nvSpPr>
        <p:spPr>
          <a:xfrm xmlns:a="http://schemas.openxmlformats.org/drawingml/2006/main">
            <a:off x="762000" y="195262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67F74"/>
                </a:solidFill>
                <a:latin typeface="Arial"/>
                <a:ea typeface="Arial"/>
                <a:cs typeface="Arial"/>
              </a:defRPr>
            </a:pPr>
            <a:r>
              <a:rPr sz="2850" b="1">
                <a:solidFill>
                  <a:srgbClr val="267F74"/>
                </a:solidFill>
                <a:latin typeface="Arial"/>
                <a:ea typeface="Arial"/>
                <a:cs typeface="Arial"/>
              </a:rPr>
              <a:t>post_ids</a:t>
            </a:r>
          </a:p>
          <a:p xmlns:a="http://schemas.openxmlformats.org/drawingml/2006/main">
            <a:pPr>
              <a:defRPr sz="2850" b="1">
                <a:solidFill>
                  <a:srgbClr val="267F74"/>
                </a:solidFill>
                <a:latin typeface="Arial"/>
                <a:ea typeface="Arial"/>
                <a:cs typeface="Arial"/>
              </a:defRPr>
            </a:pPr>
            <a:r>
              <a:rPr sz="2850" b="1">
                <a:solidFill>
                  <a:srgbClr val="267F74"/>
                </a:solidFill>
                <a:latin typeface="Arial"/>
                <a:ea typeface="Arial"/>
                <a:cs typeface="Arial"/>
              </a:rPr>
              <a:t>id unique, date de création</a:t>
            </a:r>
          </a:p>
        </p:txBody>
      </p:sp>
      <p:sp>
        <p:nvSpPr>
          <p:cNvPr id="4" name="">
            <a:extLst xmlns:a="http://schemas.openxmlformats.org/drawingml/2006/main">
              <a:ext uri="{FF2B5EF4-FFF2-40B4-BE49-F238E27FC236}">
                <a16:creationId xmlns:a16="http://schemas.microsoft.com/office/drawing/2014/main" id="{F4879CF5-8A40-40E7-B5F8-68694DFD8279}"/>
              </a:ext>
            </a:extLst>
          </p:cNvPr>
          <p:cNvSpPr>
            <a:spLocks xmlns:a="http://schemas.openxmlformats.org/drawingml/2006/main" noGrp="1"/>
          </p:cNvSpPr>
          <p:nvPr/>
        </p:nvSpPr>
        <p:spPr>
          <a:xfrm xmlns:a="http://schemas.openxmlformats.org/drawingml/2006/main">
            <a:off x="762000" y="338137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047"/>
                </a:solidFill>
                <a:latin typeface="Arial"/>
                <a:ea typeface="Arial"/>
                <a:cs typeface="Arial"/>
              </a:defRPr>
            </a:pPr>
            <a:r>
              <a:rPr sz="2250" b="0">
                <a:solidFill>
                  <a:srgbClr val="173047"/>
                </a:solidFill>
                <a:latin typeface="Arial"/>
                <a:ea typeface="Arial"/>
                <a:cs typeface="Arial"/>
              </a:rPr>
              <a:t>posts</a:t>
            </a:r>
          </a:p>
          <a:p xmlns:a="http://schemas.openxmlformats.org/drawingml/2006/main">
            <a:pPr>
              <a:defRPr sz="2250" b="0">
                <a:solidFill>
                  <a:srgbClr val="173047"/>
                </a:solidFill>
                <a:latin typeface="Arial"/>
                <a:ea typeface="Arial"/>
                <a:cs typeface="Arial"/>
              </a:defRPr>
            </a:pPr>
            <a:r>
              <a:rPr sz="2250" b="0">
                <a:solidFill>
                  <a:srgbClr val="173047"/>
                </a:solidFill>
                <a:latin typeface="Arial"/>
                <a:ea typeface="Arial"/>
                <a:cs typeface="Arial"/>
              </a:rPr>
              <a:t>Clé composée (id, creation_date), partitions par année</a:t>
            </a:r>
          </a:p>
        </p:txBody>
      </p:sp>
      <p:sp>
        <p:nvSpPr>
          <p:cNvPr id="5" name="">
            <a:extLst xmlns:a="http://schemas.openxmlformats.org/drawingml/2006/main">
              <a:ext uri="{FF2B5EF4-FFF2-40B4-BE49-F238E27FC236}">
                <a16:creationId xmlns:a16="http://schemas.microsoft.com/office/drawing/2014/main" id="{790015E9-1A50-4873-9502-9F40A91C20CE}"/>
              </a:ext>
            </a:extLst>
          </p:cNvPr>
          <p:cNvSpPr>
            <a:spLocks xmlns:a="http://schemas.openxmlformats.org/drawingml/2006/main" noGrp="1"/>
          </p:cNvSpPr>
          <p:nvPr/>
        </p:nvSpPr>
        <p:spPr>
          <a:xfrm xmlns:a="http://schemas.openxmlformats.org/drawingml/2006/main">
            <a:off x="762000" y="481012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047"/>
                </a:solidFill>
                <a:latin typeface="Arial"/>
                <a:ea typeface="Arial"/>
                <a:cs typeface="Arial"/>
              </a:defRPr>
            </a:pPr>
            <a:r>
              <a:rPr sz="2250" b="0">
                <a:solidFill>
                  <a:srgbClr val="173047"/>
                </a:solidFill>
                <a:latin typeface="Arial"/>
                <a:ea typeface="Arial"/>
                <a:cs typeface="Arial"/>
              </a:rPr>
              <a:t>comments, votes et post_tags</a:t>
            </a:r>
          </a:p>
          <a:p xmlns:a="http://schemas.openxmlformats.org/drawingml/2006/main">
            <a:pPr>
              <a:defRPr sz="2250" b="0">
                <a:solidFill>
                  <a:srgbClr val="173047"/>
                </a:solidFill>
                <a:latin typeface="Arial"/>
                <a:ea typeface="Arial"/>
                <a:cs typeface="Arial"/>
              </a:defRPr>
            </a:pPr>
            <a:r>
              <a:rPr sz="2250" b="0">
                <a:solidFill>
                  <a:srgbClr val="173047"/>
                </a:solidFill>
                <a:latin typeface="Arial"/>
                <a:ea typeface="Arial"/>
                <a:cs typeface="Arial"/>
              </a:rPr>
              <a:t>Références vers post_ids</a:t>
            </a:r>
          </a:p>
        </p:txBody>
      </p:sp>
    </p:spTree>
    <p:extLst>
      <p:ext uri="{BB962C8B-B14F-4D97-AF65-F5344CB8AC3E}">
        <p14:creationId xmlns:p14="http://schemas.microsoft.com/office/powerpoint/2010/main" val="1057787044"/>
      </p:ext>
    </p:extLst>
  </p:cSld>
</p:sld>
</file>

<file path=ppt/slides/slide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9350605-9BE2-4FC5-824D-5531F2682E44}"/>
              </a:ext>
            </a:extLst>
          </p:cNvPr>
          <p:cNvSpPr>
            <a:spLocks xmlns:a="http://schemas.openxmlformats.org/drawingml/2006/main" noGrp="1"/>
          </p:cNvSpPr>
          <p:nvPr/>
        </p:nvSpPr>
        <p:spPr>
          <a:xfrm xmlns:a="http://schemas.openxmlformats.org/drawingml/2006/main">
            <a:off x="714375" y="5238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047"/>
                </a:solidFill>
                <a:latin typeface="Arial"/>
                <a:ea typeface="Arial"/>
                <a:cs typeface="Arial"/>
              </a:defRPr>
            </a:pPr>
            <a:r>
              <a:rPr sz="3300" b="1">
                <a:solidFill>
                  <a:srgbClr val="173047"/>
                </a:solidFill>
                <a:latin typeface="Arial"/>
                <a:ea typeface="Arial"/>
                <a:cs typeface="Arial"/>
              </a:rPr>
              <a:t>Recherche textuelle et tolérance aux fautes</a:t>
            </a:r>
          </a:p>
        </p:txBody>
      </p:sp>
      <p:sp>
        <p:nvSpPr>
          <p:cNvPr id="2" name="">
            <a:extLst xmlns:a="http://schemas.openxmlformats.org/drawingml/2006/main">
              <a:ext uri="{FF2B5EF4-FFF2-40B4-BE49-F238E27FC236}">
                <a16:creationId xmlns:a16="http://schemas.microsoft.com/office/drawing/2014/main" id="{CA5A6A02-B103-4B71-BD5B-E5013C629A3A}"/>
              </a:ext>
            </a:extLst>
          </p:cNvPr>
          <p:cNvSpPr>
            <a:spLocks xmlns:a="http://schemas.openxmlformats.org/drawingml/2006/main" noGrp="1"/>
          </p:cNvSpPr>
          <p:nvPr/>
        </p:nvSpPr>
        <p:spPr>
          <a:xfrm xmlns:a="http://schemas.openxmlformats.org/drawingml/2006/main">
            <a:off x="11096625" y="62865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8096"/>
                </a:solidFill>
                <a:latin typeface="Arial"/>
                <a:ea typeface="Arial"/>
                <a:cs typeface="Arial"/>
              </a:defRPr>
            </a:pPr>
            <a:r>
              <a:rPr sz="1350" b="0">
                <a:solidFill>
                  <a:srgbClr val="718096"/>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02BA0F51-ADCB-410E-A518-8227ECF581C6}"/>
              </a:ext>
            </a:extLst>
          </p:cNvPr>
          <p:cNvSpPr>
            <a:spLocks xmlns:a="http://schemas.openxmlformats.org/drawingml/2006/main" noGrp="1"/>
          </p:cNvSpPr>
          <p:nvPr/>
        </p:nvSpPr>
        <p:spPr>
          <a:xfrm xmlns:a="http://schemas.openxmlformats.org/drawingml/2006/main">
            <a:off x="762000" y="1857375"/>
            <a:ext cx="1057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67F74"/>
                </a:solidFill>
                <a:latin typeface="Arial"/>
                <a:ea typeface="Arial"/>
                <a:cs typeface="Arial"/>
              </a:defRPr>
            </a:pPr>
            <a:r>
              <a:rPr sz="2550" b="1">
                <a:solidFill>
                  <a:srgbClr val="267F74"/>
                </a:solidFill>
                <a:latin typeface="Arial"/>
                <a:ea typeface="Arial"/>
                <a:cs typeface="Arial"/>
              </a:rPr>
              <a:t>GIN sur le texte analysé</a:t>
            </a:r>
          </a:p>
          <a:p xmlns:a="http://schemas.openxmlformats.org/drawingml/2006/main">
            <a:pPr>
              <a:defRPr sz="2550" b="1">
                <a:solidFill>
                  <a:srgbClr val="267F74"/>
                </a:solidFill>
                <a:latin typeface="Arial"/>
                <a:ea typeface="Arial"/>
                <a:cs typeface="Arial"/>
              </a:defRPr>
            </a:pPr>
            <a:r>
              <a:rPr sz="2550" b="1">
                <a:solidFill>
                  <a:srgbClr val="267F74"/>
                </a:solidFill>
                <a:latin typeface="Arial"/>
                <a:ea typeface="Arial"/>
                <a:cs typeface="Arial"/>
              </a:rPr>
              <a:t>GiST sur les trigrammes du titre</a:t>
            </a:r>
          </a:p>
        </p:txBody>
      </p:sp>
      <p:sp>
        <p:nvSpPr>
          <p:cNvPr id="4" name="">
            <a:extLst xmlns:a="http://schemas.openxmlformats.org/drawingml/2006/main">
              <a:ext uri="{FF2B5EF4-FFF2-40B4-BE49-F238E27FC236}">
                <a16:creationId xmlns:a16="http://schemas.microsoft.com/office/drawing/2014/main" id="{9C55E103-2B29-4D11-91C9-DC41C20B36F1}"/>
              </a:ext>
            </a:extLst>
          </p:cNvPr>
          <p:cNvSpPr>
            <a:spLocks xmlns:a="http://schemas.openxmlformats.org/drawingml/2006/main" noGrp="1"/>
          </p:cNvSpPr>
          <p:nvPr/>
        </p:nvSpPr>
        <p:spPr>
          <a:xfrm xmlns:a="http://schemas.openxmlformats.org/drawingml/2006/main">
            <a:off x="762000" y="3619500"/>
            <a:ext cx="10572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047"/>
                </a:solidFill>
                <a:latin typeface="Arial"/>
                <a:ea typeface="Arial"/>
                <a:cs typeface="Arial"/>
              </a:defRPr>
            </a:pPr>
            <a:r>
              <a:rPr sz="1950" b="0">
                <a:solidFill>
                  <a:srgbClr val="173047"/>
                </a:solidFill>
                <a:latin typeface="Arial"/>
                <a:ea typeface="Arial"/>
                <a:cs typeface="Arial"/>
              </a:rPr>
              <a:t>SELECT * FROM advanced_search('espresso grinder');</a:t>
            </a:r>
          </a:p>
          <a:p xmlns:a="http://schemas.openxmlformats.org/drawingml/2006/main">
            <a:r>
              <a:t/>
            </a:r>
          </a:p>
          <a:p xmlns:a="http://schemas.openxmlformats.org/drawingml/2006/main">
            <a:pPr>
              <a:defRPr sz="1950" b="0">
                <a:solidFill>
                  <a:srgbClr val="173047"/>
                </a:solidFill>
                <a:latin typeface="Arial"/>
                <a:ea typeface="Arial"/>
                <a:cs typeface="Arial"/>
              </a:defRPr>
            </a:pPr>
            <a:r>
              <a:rPr sz="1950" b="0">
                <a:solidFill>
                  <a:srgbClr val="173047"/>
                </a:solidFill>
                <a:latin typeface="Arial"/>
                <a:ea typeface="Arial"/>
                <a:cs typeface="Arial"/>
              </a:rPr>
              <a:t>SELECT * FROM smart_search('espressso');</a:t>
            </a:r>
          </a:p>
        </p:txBody>
      </p:sp>
      <p:sp>
        <p:nvSpPr>
          <p:cNvPr id="5" name="">
            <a:extLst xmlns:a="http://schemas.openxmlformats.org/drawingml/2006/main">
              <a:ext uri="{FF2B5EF4-FFF2-40B4-BE49-F238E27FC236}">
                <a16:creationId xmlns:a16="http://schemas.microsoft.com/office/drawing/2014/main" id="{7591D114-0999-4233-9BB2-C080CCE0E26E}"/>
              </a:ext>
            </a:extLst>
          </p:cNvPr>
          <p:cNvSpPr>
            <a:spLocks xmlns:a="http://schemas.openxmlformats.org/drawingml/2006/main" noGrp="1"/>
          </p:cNvSpPr>
          <p:nvPr/>
        </p:nvSpPr>
        <p:spPr>
          <a:xfrm xmlns:a="http://schemas.openxmlformats.org/drawingml/2006/main">
            <a:off x="762000" y="53816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047"/>
                </a:solidFill>
                <a:latin typeface="Arial"/>
                <a:ea typeface="Arial"/>
                <a:cs typeface="Arial"/>
              </a:defRPr>
            </a:pPr>
            <a:r>
              <a:rPr sz="1875" b="0">
                <a:solidFill>
                  <a:srgbClr val="173047"/>
                </a:solidFill>
                <a:latin typeface="Arial"/>
                <a:ea typeface="Arial"/>
                <a:cs typeface="Arial"/>
              </a:rPr>
              <a:t>Le français, l’allemand et l’espagnol utilisent leur dictionnaire.</a:t>
            </a:r>
          </a:p>
          <a:p xmlns:a="http://schemas.openxmlformats.org/drawingml/2006/main">
            <a:pPr>
              <a:defRPr sz="1875" b="0">
                <a:solidFill>
                  <a:srgbClr val="173047"/>
                </a:solidFill>
                <a:latin typeface="Arial"/>
                <a:ea typeface="Arial"/>
                <a:cs typeface="Arial"/>
              </a:defRPr>
            </a:pPr>
            <a:r>
              <a:rPr sz="1875" b="0">
                <a:solidFill>
                  <a:srgbClr val="173047"/>
                </a:solidFill>
                <a:latin typeface="Arial"/>
                <a:ea typeface="Arial"/>
                <a:cs typeface="Arial"/>
              </a:rPr>
              <a:t>Une langue inconnue revient à l’anglais.</a:t>
            </a:r>
          </a:p>
        </p:txBody>
      </p:sp>
    </p:spTree>
    <p:extLst>
      <p:ext uri="{BB962C8B-B14F-4D97-AF65-F5344CB8AC3E}">
        <p14:creationId xmlns:p14="http://schemas.microsoft.com/office/powerpoint/2010/main" val="164828080"/>
      </p:ext>
    </p:extLst>
  </p:cSld>
</p:sld>
</file>

<file path=ppt/slides/slide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2EDA320-AAFB-4D73-BE6B-AAC90DF1AFC6}"/>
              </a:ext>
            </a:extLst>
          </p:cNvPr>
          <p:cNvSpPr>
            <a:spLocks xmlns:a="http://schemas.openxmlformats.org/drawingml/2006/main" noGrp="1"/>
          </p:cNvSpPr>
          <p:nvPr/>
        </p:nvSpPr>
        <p:spPr>
          <a:xfrm xmlns:a="http://schemas.openxmlformats.org/drawingml/2006/main">
            <a:off x="714375" y="5238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047"/>
                </a:solidFill>
                <a:latin typeface="Arial"/>
                <a:ea typeface="Arial"/>
                <a:cs typeface="Arial"/>
              </a:defRPr>
            </a:pPr>
            <a:r>
              <a:rPr sz="3300" b="1">
                <a:solidFill>
                  <a:srgbClr val="173047"/>
                </a:solidFill>
                <a:latin typeface="Arial"/>
                <a:ea typeface="Arial"/>
                <a:cs typeface="Arial"/>
              </a:rPr>
              <a:t>Des filtres contrôlés avant la recherche</a:t>
            </a:r>
          </a:p>
        </p:txBody>
      </p:sp>
      <p:sp>
        <p:nvSpPr>
          <p:cNvPr id="2" name="">
            <a:extLst xmlns:a="http://schemas.openxmlformats.org/drawingml/2006/main">
              <a:ext uri="{FF2B5EF4-FFF2-40B4-BE49-F238E27FC236}">
                <a16:creationId xmlns:a16="http://schemas.microsoft.com/office/drawing/2014/main" id="{E2680FF6-46AA-41C7-8A9F-C9AD7EDDA608}"/>
              </a:ext>
            </a:extLst>
          </p:cNvPr>
          <p:cNvSpPr>
            <a:spLocks xmlns:a="http://schemas.openxmlformats.org/drawingml/2006/main" noGrp="1"/>
          </p:cNvSpPr>
          <p:nvPr/>
        </p:nvSpPr>
        <p:spPr>
          <a:xfrm xmlns:a="http://schemas.openxmlformats.org/drawingml/2006/main">
            <a:off x="11096625" y="62865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8096"/>
                </a:solidFill>
                <a:latin typeface="Arial"/>
                <a:ea typeface="Arial"/>
                <a:cs typeface="Arial"/>
              </a:defRPr>
            </a:pPr>
            <a:r>
              <a:rPr sz="1350" b="0">
                <a:solidFill>
                  <a:srgbClr val="718096"/>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29975ACD-0CD3-47D4-8FB2-819946196066}"/>
              </a:ext>
            </a:extLst>
          </p:cNvPr>
          <p:cNvSpPr>
            <a:spLocks xmlns:a="http://schemas.openxmlformats.org/drawingml/2006/main" noGrp="1"/>
          </p:cNvSpPr>
          <p:nvPr/>
        </p:nvSpPr>
        <p:spPr>
          <a:xfrm xmlns:a="http://schemas.openxmlformats.org/drawingml/2006/main">
            <a:off x="762000" y="1857375"/>
            <a:ext cx="10477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3047"/>
                </a:solidFill>
                <a:latin typeface="Arial"/>
                <a:ea typeface="Arial"/>
                <a:cs typeface="Arial"/>
              </a:defRPr>
            </a:pPr>
            <a:r>
              <a:rPr sz="2475" b="0">
                <a:solidFill>
                  <a:srgbClr val="173047"/>
                </a:solidFill>
                <a:latin typeface="Arial"/>
                <a:ea typeface="Arial"/>
                <a:cs typeface="Arial"/>
              </a:rPr>
              <a:t>Tags et score minimum</a:t>
            </a:r>
          </a:p>
          <a:p xmlns:a="http://schemas.openxmlformats.org/drawingml/2006/main">
            <a:pPr>
              <a:defRPr sz="2475" b="0">
                <a:solidFill>
                  <a:srgbClr val="173047"/>
                </a:solidFill>
                <a:latin typeface="Arial"/>
                <a:ea typeface="Arial"/>
                <a:cs typeface="Arial"/>
              </a:defRPr>
            </a:pPr>
            <a:r>
              <a:rPr sz="2475" b="0">
                <a:solidFill>
                  <a:srgbClr val="173047"/>
                </a:solidFill>
                <a:latin typeface="Arial"/>
                <a:ea typeface="Arial"/>
                <a:cs typeface="Arial"/>
              </a:rPr>
              <a:t>Plage de dates et réponse acceptée</a:t>
            </a:r>
          </a:p>
          <a:p xmlns:a="http://schemas.openxmlformats.org/drawingml/2006/main">
            <a:pPr>
              <a:defRPr sz="2475" b="0">
                <a:solidFill>
                  <a:srgbClr val="173047"/>
                </a:solidFill>
                <a:latin typeface="Arial"/>
                <a:ea typeface="Arial"/>
                <a:cs typeface="Arial"/>
              </a:defRPr>
            </a:pPr>
            <a:r>
              <a:rPr sz="2475" b="0">
                <a:solidFill>
                  <a:srgbClr val="173047"/>
                </a:solidFill>
                <a:latin typeface="Arial"/>
                <a:ea typeface="Arial"/>
                <a:cs typeface="Arial"/>
              </a:rPr>
              <a:t>Métadonnées JSONB</a:t>
            </a:r>
          </a:p>
        </p:txBody>
      </p:sp>
      <p:sp>
        <p:nvSpPr>
          <p:cNvPr id="4" name="">
            <a:extLst xmlns:a="http://schemas.openxmlformats.org/drawingml/2006/main">
              <a:ext uri="{FF2B5EF4-FFF2-40B4-BE49-F238E27FC236}">
                <a16:creationId xmlns:a16="http://schemas.microsoft.com/office/drawing/2014/main" id="{5ABDD0D5-A50E-4580-A8BA-41A65A0615D8}"/>
              </a:ext>
            </a:extLst>
          </p:cNvPr>
          <p:cNvSpPr>
            <a:spLocks xmlns:a="http://schemas.openxmlformats.org/drawingml/2006/main" noGrp="1"/>
          </p:cNvSpPr>
          <p:nvPr/>
        </p:nvSpPr>
        <p:spPr>
          <a:xfrm xmlns:a="http://schemas.openxmlformats.org/drawingml/2006/main">
            <a:off x="762000" y="3857625"/>
            <a:ext cx="103822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67F74"/>
                </a:solidFill>
                <a:latin typeface="Arial"/>
                <a:ea typeface="Arial"/>
                <a:cs typeface="Arial"/>
              </a:defRPr>
            </a:pPr>
            <a:r>
              <a:rPr sz="2025" b="0">
                <a:solidFill>
                  <a:srgbClr val="267F74"/>
                </a:solidFill>
                <a:latin typeface="Arial"/>
                <a:ea typeface="Arial"/>
                <a:cs typeface="Arial"/>
              </a:rPr>
              <a:t>{</a:t>
            </a:r>
          </a:p>
          <a:p xmlns:a="http://schemas.openxmlformats.org/drawingml/2006/main">
            <a:pPr>
              <a:defRPr sz="2025" b="0">
                <a:solidFill>
                  <a:srgbClr val="267F74"/>
                </a:solidFill>
                <a:latin typeface="Arial"/>
                <a:ea typeface="Arial"/>
                <a:cs typeface="Arial"/>
              </a:defRPr>
            </a:pPr>
            <a:r>
              <a:rPr sz="2025" b="0">
                <a:solidFill>
                  <a:srgbClr val="267F74"/>
                </a:solidFill>
                <a:latin typeface="Arial"/>
                <a:ea typeface="Arial"/>
                <a:cs typeface="Arial"/>
              </a:rPr>
              <a:t>  "tags": ["espresso"],</a:t>
            </a:r>
          </a:p>
          <a:p xmlns:a="http://schemas.openxmlformats.org/drawingml/2006/main">
            <a:pPr>
              <a:defRPr sz="2025" b="0">
                <a:solidFill>
                  <a:srgbClr val="267F74"/>
                </a:solidFill>
                <a:latin typeface="Arial"/>
                <a:ea typeface="Arial"/>
                <a:cs typeface="Arial"/>
              </a:defRPr>
            </a:pPr>
            <a:r>
              <a:rPr sz="2025" b="0">
                <a:solidFill>
                  <a:srgbClr val="267F74"/>
                </a:solidFill>
                <a:latin typeface="Arial"/>
                <a:ea typeface="Arial"/>
                <a:cs typeface="Arial"/>
              </a:rPr>
              <a:t>  "min_score": 1,</a:t>
            </a:r>
          </a:p>
          <a:p xmlns:a="http://schemas.openxmlformats.org/drawingml/2006/main">
            <a:pPr>
              <a:defRPr sz="2025" b="0">
                <a:solidFill>
                  <a:srgbClr val="267F74"/>
                </a:solidFill>
                <a:latin typeface="Arial"/>
                <a:ea typeface="Arial"/>
                <a:cs typeface="Arial"/>
              </a:defRPr>
            </a:pPr>
            <a:r>
              <a:rPr sz="2025" b="0">
                <a:solidFill>
                  <a:srgbClr val="267F74"/>
                </a:solidFill>
                <a:latin typeface="Arial"/>
                <a:ea typeface="Arial"/>
                <a:cs typeface="Arial"/>
              </a:rPr>
              <a:t>  "has_accepted_answer": true</a:t>
            </a:r>
          </a:p>
          <a:p xmlns:a="http://schemas.openxmlformats.org/drawingml/2006/main">
            <a:pPr>
              <a:defRPr sz="2025" b="0">
                <a:solidFill>
                  <a:srgbClr val="267F74"/>
                </a:solidFill>
                <a:latin typeface="Arial"/>
                <a:ea typeface="Arial"/>
                <a:cs typeface="Arial"/>
              </a:defRPr>
            </a:pPr>
            <a:r>
              <a:rPr sz="2025" b="0">
                <a:solidFill>
                  <a:srgbClr val="267F74"/>
                </a:solidFill>
                <a:latin typeface="Arial"/>
                <a:ea typeface="Arial"/>
                <a:cs typeface="Arial"/>
              </a:rPr>
              <a:t>}</a:t>
            </a:r>
          </a:p>
        </p:txBody>
      </p:sp>
    </p:spTree>
    <p:extLst>
      <p:ext uri="{BB962C8B-B14F-4D97-AF65-F5344CB8AC3E}">
        <p14:creationId xmlns:p14="http://schemas.microsoft.com/office/powerpoint/2010/main" val="1971092102"/>
      </p:ext>
    </p:extLst>
  </p:cSld>
</p:sld>
</file>

<file path=ppt/slides/slide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C734822-D5D9-4E4C-882E-1690ECB116DC}"/>
              </a:ext>
            </a:extLst>
          </p:cNvPr>
          <p:cNvSpPr>
            <a:spLocks xmlns:a="http://schemas.openxmlformats.org/drawingml/2006/main" noGrp="1"/>
          </p:cNvSpPr>
          <p:nvPr/>
        </p:nvSpPr>
        <p:spPr>
          <a:xfrm xmlns:a="http://schemas.openxmlformats.org/drawingml/2006/main">
            <a:off x="714375" y="5238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047"/>
                </a:solidFill>
                <a:latin typeface="Arial"/>
                <a:ea typeface="Arial"/>
                <a:cs typeface="Arial"/>
              </a:defRPr>
            </a:pPr>
            <a:r>
              <a:rPr sz="3300" b="1">
                <a:solidFill>
                  <a:srgbClr val="173047"/>
                </a:solidFill>
                <a:latin typeface="Arial"/>
                <a:ea typeface="Arial"/>
                <a:cs typeface="Arial"/>
              </a:rPr>
              <a:t>Les droits s’appliquent aussi au cache</a:t>
            </a:r>
          </a:p>
        </p:txBody>
      </p:sp>
      <p:sp>
        <p:nvSpPr>
          <p:cNvPr id="2" name="">
            <a:extLst xmlns:a="http://schemas.openxmlformats.org/drawingml/2006/main">
              <a:ext uri="{FF2B5EF4-FFF2-40B4-BE49-F238E27FC236}">
                <a16:creationId xmlns:a16="http://schemas.microsoft.com/office/drawing/2014/main" id="{3E221DE2-8B10-4B27-BD58-9A9628A0FD0F}"/>
              </a:ext>
            </a:extLst>
          </p:cNvPr>
          <p:cNvSpPr>
            <a:spLocks xmlns:a="http://schemas.openxmlformats.org/drawingml/2006/main" noGrp="1"/>
          </p:cNvSpPr>
          <p:nvPr/>
        </p:nvSpPr>
        <p:spPr>
          <a:xfrm xmlns:a="http://schemas.openxmlformats.org/drawingml/2006/main">
            <a:off x="11096625" y="62865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8096"/>
                </a:solidFill>
                <a:latin typeface="Arial"/>
                <a:ea typeface="Arial"/>
                <a:cs typeface="Arial"/>
              </a:defRPr>
            </a:pPr>
            <a:r>
              <a:rPr sz="1350" b="0">
                <a:solidFill>
                  <a:srgbClr val="718096"/>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36A5D09A-4856-4285-981F-D348432BF2C9}"/>
              </a:ext>
            </a:extLst>
          </p:cNvPr>
          <p:cNvSpPr>
            <a:spLocks xmlns:a="http://schemas.openxmlformats.org/drawingml/2006/main" noGrp="1"/>
          </p:cNvSpPr>
          <p:nvPr/>
        </p:nvSpPr>
        <p:spPr>
          <a:xfrm xmlns:a="http://schemas.openxmlformats.org/drawingml/2006/main">
            <a:off x="762000" y="1857375"/>
            <a:ext cx="1038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047"/>
                </a:solidFill>
                <a:latin typeface="Arial"/>
                <a:ea typeface="Arial"/>
                <a:cs typeface="Arial"/>
              </a:defRPr>
            </a:pPr>
            <a:r>
              <a:rPr sz="2325" b="0">
                <a:solidFill>
                  <a:srgbClr val="173047"/>
                </a:solidFill>
                <a:latin typeface="Arial"/>
                <a:ea typeface="Arial"/>
                <a:cs typeface="Arial"/>
              </a:rPr>
              <a:t>Lecteur</a:t>
            </a:r>
          </a:p>
          <a:p xmlns:a="http://schemas.openxmlformats.org/drawingml/2006/main">
            <a:pPr>
              <a:defRPr sz="2325" b="0">
                <a:solidFill>
                  <a:srgbClr val="173047"/>
                </a:solidFill>
                <a:latin typeface="Arial"/>
                <a:ea typeface="Arial"/>
                <a:cs typeface="Arial"/>
              </a:defRPr>
            </a:pPr>
            <a:r>
              <a:rPr sz="2325" b="0">
                <a:solidFill>
                  <a:srgbClr val="173047"/>
                </a:solidFill>
                <a:latin typeface="Arial"/>
                <a:ea typeface="Arial"/>
                <a:cs typeface="Arial"/>
              </a:rPr>
              <a:t>Publics et ses propres posts privés</a:t>
            </a:r>
          </a:p>
        </p:txBody>
      </p:sp>
      <p:sp>
        <p:nvSpPr>
          <p:cNvPr id="4" name="">
            <a:extLst xmlns:a="http://schemas.openxmlformats.org/drawingml/2006/main">
              <a:ext uri="{FF2B5EF4-FFF2-40B4-BE49-F238E27FC236}">
                <a16:creationId xmlns:a16="http://schemas.microsoft.com/office/drawing/2014/main" id="{D5521374-9C74-4CA3-ADD3-47A72F8EC761}"/>
              </a:ext>
            </a:extLst>
          </p:cNvPr>
          <p:cNvSpPr>
            <a:spLocks xmlns:a="http://schemas.openxmlformats.org/drawingml/2006/main" noGrp="1"/>
          </p:cNvSpPr>
          <p:nvPr/>
        </p:nvSpPr>
        <p:spPr>
          <a:xfrm xmlns:a="http://schemas.openxmlformats.org/drawingml/2006/main">
            <a:off x="762000" y="3190875"/>
            <a:ext cx="1038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047"/>
                </a:solidFill>
                <a:latin typeface="Arial"/>
                <a:ea typeface="Arial"/>
                <a:cs typeface="Arial"/>
              </a:defRPr>
            </a:pPr>
            <a:r>
              <a:rPr sz="2325" b="0">
                <a:solidFill>
                  <a:srgbClr val="173047"/>
                </a:solidFill>
                <a:latin typeface="Arial"/>
                <a:ea typeface="Arial"/>
                <a:cs typeface="Arial"/>
              </a:rPr>
              <a:t>Modérateur</a:t>
            </a:r>
          </a:p>
          <a:p xmlns:a="http://schemas.openxmlformats.org/drawingml/2006/main">
            <a:pPr>
              <a:defRPr sz="2325" b="0">
                <a:solidFill>
                  <a:srgbClr val="173047"/>
                </a:solidFill>
                <a:latin typeface="Arial"/>
                <a:ea typeface="Arial"/>
                <a:cs typeface="Arial"/>
              </a:defRPr>
            </a:pPr>
            <a:r>
              <a:rPr sz="2325" b="0">
                <a:solidFill>
                  <a:srgbClr val="173047"/>
                </a:solidFill>
                <a:latin typeface="Arial"/>
                <a:ea typeface="Arial"/>
                <a:cs typeface="Arial"/>
              </a:rPr>
              <a:t>Tous les posts de son tenant</a:t>
            </a:r>
          </a:p>
        </p:txBody>
      </p:sp>
      <p:sp>
        <p:nvSpPr>
          <p:cNvPr id="5" name="">
            <a:extLst xmlns:a="http://schemas.openxmlformats.org/drawingml/2006/main">
              <a:ext uri="{FF2B5EF4-FFF2-40B4-BE49-F238E27FC236}">
                <a16:creationId xmlns:a16="http://schemas.microsoft.com/office/drawing/2014/main" id="{AE5D2BFF-DE45-4DC8-ABDB-67710D424CC9}"/>
              </a:ext>
            </a:extLst>
          </p:cNvPr>
          <p:cNvSpPr>
            <a:spLocks xmlns:a="http://schemas.openxmlformats.org/drawingml/2006/main" noGrp="1"/>
          </p:cNvSpPr>
          <p:nvPr/>
        </p:nvSpPr>
        <p:spPr>
          <a:xfrm xmlns:a="http://schemas.openxmlformats.org/drawingml/2006/main">
            <a:off x="762000" y="4524375"/>
            <a:ext cx="1038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047"/>
                </a:solidFill>
                <a:latin typeface="Arial"/>
                <a:ea typeface="Arial"/>
                <a:cs typeface="Arial"/>
              </a:defRPr>
            </a:pPr>
            <a:r>
              <a:rPr sz="2325" b="0">
                <a:solidFill>
                  <a:srgbClr val="173047"/>
                </a:solidFill>
                <a:latin typeface="Arial"/>
                <a:ea typeface="Arial"/>
                <a:cs typeface="Arial"/>
              </a:rPr>
              <a:t>Administrateur</a:t>
            </a:r>
          </a:p>
          <a:p xmlns:a="http://schemas.openxmlformats.org/drawingml/2006/main">
            <a:pPr>
              <a:defRPr sz="2325" b="0">
                <a:solidFill>
                  <a:srgbClr val="173047"/>
                </a:solidFill>
                <a:latin typeface="Arial"/>
                <a:ea typeface="Arial"/>
                <a:cs typeface="Arial"/>
              </a:defRPr>
            </a:pPr>
            <a:r>
              <a:rPr sz="2325" b="0">
                <a:solidFill>
                  <a:srgbClr val="173047"/>
                </a:solidFill>
                <a:latin typeface="Arial"/>
                <a:ea typeface="Arial"/>
                <a:cs typeface="Arial"/>
              </a:rPr>
              <a:t>Tous les tenants</a:t>
            </a:r>
          </a:p>
        </p:txBody>
      </p:sp>
      <p:sp>
        <p:nvSpPr>
          <p:cNvPr id="6" name="">
            <a:extLst xmlns:a="http://schemas.openxmlformats.org/drawingml/2006/main">
              <a:ext uri="{FF2B5EF4-FFF2-40B4-BE49-F238E27FC236}">
                <a16:creationId xmlns:a16="http://schemas.microsoft.com/office/drawing/2014/main" id="{1962AA56-2306-414F-B299-4542E889C36E}"/>
              </a:ext>
            </a:extLst>
          </p:cNvPr>
          <p:cNvSpPr>
            <a:spLocks xmlns:a="http://schemas.openxmlformats.org/drawingml/2006/main" noGrp="1"/>
          </p:cNvSpPr>
          <p:nvPr/>
        </p:nvSpPr>
        <p:spPr>
          <a:xfrm xmlns:a="http://schemas.openxmlformats.org/drawingml/2006/main">
            <a:off x="762000" y="57626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67F74"/>
                </a:solidFill>
                <a:latin typeface="Arial"/>
                <a:ea typeface="Arial"/>
                <a:cs typeface="Arial"/>
              </a:defRPr>
            </a:pPr>
            <a:r>
              <a:rPr sz="1875" b="1">
                <a:solidFill>
                  <a:srgbClr val="267F74"/>
                </a:solidFill>
                <a:latin typeface="Arial"/>
                <a:ea typeface="Arial"/>
                <a:cs typeface="Arial"/>
              </a:rPr>
              <a:t>La clé du cache inclut le rôle, le tenant et l’utilisateur.</a:t>
            </a:r>
          </a:p>
        </p:txBody>
      </p:sp>
    </p:spTree>
    <p:extLst>
      <p:ext uri="{BB962C8B-B14F-4D97-AF65-F5344CB8AC3E}">
        <p14:creationId xmlns:p14="http://schemas.microsoft.com/office/powerpoint/2010/main" val="1320199267"/>
      </p:ext>
    </p:extLst>
  </p:cSld>
</p:sld>
</file>

<file path=ppt/slides/slide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DD25FCE-9AB3-4001-898D-FDC7249B8103}"/>
              </a:ext>
            </a:extLst>
          </p:cNvPr>
          <p:cNvSpPr>
            <a:spLocks xmlns:a="http://schemas.openxmlformats.org/drawingml/2006/main" noGrp="1"/>
          </p:cNvSpPr>
          <p:nvPr/>
        </p:nvSpPr>
        <p:spPr>
          <a:xfrm xmlns:a="http://schemas.openxmlformats.org/drawingml/2006/main">
            <a:off x="714375" y="5238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047"/>
                </a:solidFill>
                <a:latin typeface="Arial"/>
                <a:ea typeface="Arial"/>
                <a:cs typeface="Arial"/>
              </a:defRPr>
            </a:pPr>
            <a:r>
              <a:rPr sz="3300" b="1">
                <a:solidFill>
                  <a:srgbClr val="173047"/>
                </a:solidFill>
                <a:latin typeface="Arial"/>
                <a:ea typeface="Arial"/>
                <a:cs typeface="Arial"/>
              </a:rPr>
              <a:t>Les triggers maintiennent les données liées</a:t>
            </a:r>
          </a:p>
        </p:txBody>
      </p:sp>
      <p:sp>
        <p:nvSpPr>
          <p:cNvPr id="2" name="">
            <a:extLst xmlns:a="http://schemas.openxmlformats.org/drawingml/2006/main">
              <a:ext uri="{FF2B5EF4-FFF2-40B4-BE49-F238E27FC236}">
                <a16:creationId xmlns:a16="http://schemas.microsoft.com/office/drawing/2014/main" id="{21F9B780-6BC7-4EE1-AA6E-4F22DDDD0338}"/>
              </a:ext>
            </a:extLst>
          </p:cNvPr>
          <p:cNvSpPr>
            <a:spLocks xmlns:a="http://schemas.openxmlformats.org/drawingml/2006/main" noGrp="1"/>
          </p:cNvSpPr>
          <p:nvPr/>
        </p:nvSpPr>
        <p:spPr>
          <a:xfrm xmlns:a="http://schemas.openxmlformats.org/drawingml/2006/main">
            <a:off x="11096625" y="62865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8096"/>
                </a:solidFill>
                <a:latin typeface="Arial"/>
                <a:ea typeface="Arial"/>
                <a:cs typeface="Arial"/>
              </a:defRPr>
            </a:pPr>
            <a:r>
              <a:rPr sz="1350" b="0">
                <a:solidFill>
                  <a:srgbClr val="718096"/>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861E0766-26AE-48C9-8D24-44173940BC33}"/>
              </a:ext>
            </a:extLst>
          </p:cNvPr>
          <p:cNvSpPr>
            <a:spLocks xmlns:a="http://schemas.openxmlformats.org/drawingml/2006/main" noGrp="1"/>
          </p:cNvSpPr>
          <p:nvPr/>
        </p:nvSpPr>
        <p:spPr>
          <a:xfrm xmlns:a="http://schemas.openxmlformats.org/drawingml/2006/main">
            <a:off x="762000" y="1952625"/>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267F74"/>
                </a:solidFill>
                <a:latin typeface="Arial"/>
                <a:ea typeface="Arial"/>
                <a:cs typeface="Arial"/>
              </a:defRPr>
            </a:pPr>
            <a:r>
              <a:rPr sz="2925" b="1">
                <a:solidFill>
                  <a:srgbClr val="267F74"/>
                </a:solidFill>
                <a:latin typeface="Arial"/>
                <a:ea typeface="Arial"/>
                <a:cs typeface="Arial"/>
              </a:rPr>
              <a:t>Accepter une réponse attribue Scholar</a:t>
            </a:r>
          </a:p>
          <a:p xmlns:a="http://schemas.openxmlformats.org/drawingml/2006/main">
            <a:pPr>
              <a:defRPr sz="2925" b="1">
                <a:solidFill>
                  <a:srgbClr val="267F74"/>
                </a:solidFill>
                <a:latin typeface="Arial"/>
                <a:ea typeface="Arial"/>
                <a:cs typeface="Arial"/>
              </a:defRPr>
            </a:pPr>
            <a:r>
              <a:rPr sz="2925" b="1">
                <a:solidFill>
                  <a:srgbClr val="267F74"/>
                </a:solidFill>
                <a:latin typeface="Arial"/>
                <a:ea typeface="Arial"/>
                <a:cs typeface="Arial"/>
              </a:rPr>
              <a:t>à l’auteur de cette réponse.</a:t>
            </a:r>
          </a:p>
        </p:txBody>
      </p:sp>
      <p:sp>
        <p:nvSpPr>
          <p:cNvPr id="4" name="">
            <a:extLst xmlns:a="http://schemas.openxmlformats.org/drawingml/2006/main">
              <a:ext uri="{FF2B5EF4-FFF2-40B4-BE49-F238E27FC236}">
                <a16:creationId xmlns:a16="http://schemas.microsoft.com/office/drawing/2014/main" id="{730F15B2-0078-4783-B4EC-974F3171B062}"/>
              </a:ext>
            </a:extLst>
          </p:cNvPr>
          <p:cNvSpPr>
            <a:spLocks xmlns:a="http://schemas.openxmlformats.org/drawingml/2006/main" noGrp="1"/>
          </p:cNvSpPr>
          <p:nvPr/>
        </p:nvSpPr>
        <p:spPr>
          <a:xfrm xmlns:a="http://schemas.openxmlformats.org/drawingml/2006/main">
            <a:off x="762000" y="3762375"/>
            <a:ext cx="104775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047"/>
                </a:solidFill>
                <a:latin typeface="Arial"/>
                <a:ea typeface="Arial"/>
                <a:cs typeface="Arial"/>
              </a:defRPr>
            </a:pPr>
            <a:r>
              <a:rPr sz="2175" b="0">
                <a:solidFill>
                  <a:srgbClr val="173047"/>
                </a:solidFill>
                <a:latin typeface="Arial"/>
                <a:ea typeface="Arial"/>
                <a:cs typeface="Arial"/>
              </a:rPr>
              <a:t>Modifier un vote déclenche aussi la vérification.</a:t>
            </a:r>
          </a:p>
          <a:p xmlns:a="http://schemas.openxmlformats.org/drawingml/2006/main">
            <a:r>
              <a:t/>
            </a:r>
          </a:p>
          <a:p xmlns:a="http://schemas.openxmlformats.org/drawingml/2006/main">
            <a:pPr>
              <a:defRPr sz="2175" b="0">
                <a:solidFill>
                  <a:srgbClr val="173047"/>
                </a:solidFill>
                <a:latin typeface="Arial"/>
                <a:ea typeface="Arial"/>
                <a:cs typeface="Arial"/>
              </a:defRPr>
            </a:pPr>
            <a:r>
              <a:rPr sz="2175" b="0">
                <a:solidFill>
                  <a:srgbClr val="173047"/>
                </a:solidFill>
                <a:latin typeface="Arial"/>
                <a:ea typeface="Arial"/>
                <a:cs typeface="Arial"/>
              </a:rPr>
              <a:t>Changer la visibilité d’un post invalide le cache.</a:t>
            </a:r>
          </a:p>
          <a:p xmlns:a="http://schemas.openxmlformats.org/drawingml/2006/main">
            <a:r>
              <a:t/>
            </a:r>
          </a:p>
          <a:p xmlns:a="http://schemas.openxmlformats.org/drawingml/2006/main">
            <a:pPr>
              <a:defRPr sz="2175" b="0">
                <a:solidFill>
                  <a:srgbClr val="173047"/>
                </a:solidFill>
                <a:latin typeface="Arial"/>
                <a:ea typeface="Arial"/>
                <a:cs typeface="Arial"/>
              </a:defRPr>
            </a:pPr>
            <a:r>
              <a:rPr sz="2175" b="0">
                <a:solidFill>
                  <a:srgbClr val="173047"/>
                </a:solidFill>
                <a:latin typeface="Arial"/>
                <a:ea typeface="Arial"/>
                <a:cs typeface="Arial"/>
              </a:rPr>
              <a:t>Supprimer une réponse ajuste le compteur.</a:t>
            </a:r>
          </a:p>
        </p:txBody>
      </p:sp>
    </p:spTree>
    <p:extLst>
      <p:ext uri="{BB962C8B-B14F-4D97-AF65-F5344CB8AC3E}">
        <p14:creationId xmlns:p14="http://schemas.microsoft.com/office/powerpoint/2010/main" val="1400078288"/>
      </p:ext>
    </p:extLst>
  </p:cSld>
</p:sld>
</file>

<file path=ppt/slides/slide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5593768-98C3-4E76-923C-E0971F694ECB}"/>
              </a:ext>
            </a:extLst>
          </p:cNvPr>
          <p:cNvSpPr>
            <a:spLocks xmlns:a="http://schemas.openxmlformats.org/drawingml/2006/main" noGrp="1"/>
          </p:cNvSpPr>
          <p:nvPr/>
        </p:nvSpPr>
        <p:spPr>
          <a:xfrm xmlns:a="http://schemas.openxmlformats.org/drawingml/2006/main">
            <a:off x="714375" y="5238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047"/>
                </a:solidFill>
                <a:latin typeface="Arial"/>
                <a:ea typeface="Arial"/>
                <a:cs typeface="Arial"/>
              </a:defRPr>
            </a:pPr>
            <a:r>
              <a:rPr sz="3300" b="1">
                <a:solidFill>
                  <a:srgbClr val="173047"/>
                </a:solidFill>
                <a:latin typeface="Arial"/>
                <a:ea typeface="Arial"/>
                <a:cs typeface="Arial"/>
              </a:rPr>
              <a:t>Le 95e percentile reste sous 100 ms en local</a:t>
            </a:r>
          </a:p>
        </p:txBody>
      </p:sp>
      <p:sp>
        <p:nvSpPr>
          <p:cNvPr id="2" name="">
            <a:extLst xmlns:a="http://schemas.openxmlformats.org/drawingml/2006/main">
              <a:ext uri="{FF2B5EF4-FFF2-40B4-BE49-F238E27FC236}">
                <a16:creationId xmlns:a16="http://schemas.microsoft.com/office/drawing/2014/main" id="{EC1481EA-9A68-4580-8CE2-6800DA712213}"/>
              </a:ext>
            </a:extLst>
          </p:cNvPr>
          <p:cNvSpPr>
            <a:spLocks xmlns:a="http://schemas.openxmlformats.org/drawingml/2006/main" noGrp="1"/>
          </p:cNvSpPr>
          <p:nvPr/>
        </p:nvSpPr>
        <p:spPr>
          <a:xfrm xmlns:a="http://schemas.openxmlformats.org/drawingml/2006/main">
            <a:off x="11096625" y="62865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8096"/>
                </a:solidFill>
                <a:latin typeface="Arial"/>
                <a:ea typeface="Arial"/>
                <a:cs typeface="Arial"/>
              </a:defRPr>
            </a:pPr>
            <a:r>
              <a:rPr sz="1350" b="0">
                <a:solidFill>
                  <a:srgbClr val="718096"/>
                </a:solidFill>
                <a:latin typeface="Arial"/>
                <a:ea typeface="Arial"/>
                <a:cs typeface="Arial"/>
              </a:rPr>
              <a:t>08</a:t>
            </a:r>
          </a:p>
        </p:txBody>
      </p:sp>
      <p:graphicFrame>
        <p:nvGraphicFramePr>
          <p:cNvPr id="7" name="Chart"/>
          <p:cNvGraphicFramePr/>
          <p:nvPr/>
        </p:nvGraphicFramePr>
        <p:xfrm>
          <a:off xmlns:a="http://schemas.openxmlformats.org/drawingml/2006/main" x="809625" y="1762125"/>
          <a:ext xmlns:a="http://schemas.openxmlformats.org/drawingml/2006/main" cx="10477500" cy="3476625"/>
        </p:xfrm>
        <a:graphic xmlns:a="http://schemas.openxmlformats.org/drawingml/2006/main">
          <a:graphicData uri="http://schemas.openxmlformats.org/drawingml/2006/chart">
            <c:chart xmlns:r="http://schemas.openxmlformats.org/officeDocument/2006/relationships" xmlns:c="http://schemas.openxmlformats.org/drawingml/2006/chart" r:id="Rdfd74275813e48b8"/>
          </a:graphicData>
        </a:graphic>
      </p:graphicFrame>
      <p:sp>
        <p:nvSpPr>
          <p:cNvPr id="4" name="">
            <a:extLst xmlns:a="http://schemas.openxmlformats.org/drawingml/2006/main">
              <a:ext uri="{FF2B5EF4-FFF2-40B4-BE49-F238E27FC236}">
                <a16:creationId xmlns:a16="http://schemas.microsoft.com/office/drawing/2014/main" id="{F08CD327-D5D9-4C7B-BCA3-2C9420BAD591}"/>
              </a:ext>
            </a:extLst>
          </p:cNvPr>
          <p:cNvSpPr>
            <a:spLocks xmlns:a="http://schemas.openxmlformats.org/drawingml/2006/main" noGrp="1"/>
          </p:cNvSpPr>
          <p:nvPr/>
        </p:nvSpPr>
        <p:spPr>
          <a:xfrm xmlns:a="http://schemas.openxmlformats.org/drawingml/2006/main">
            <a:off x="809625" y="557212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3047"/>
                </a:solidFill>
                <a:latin typeface="Arial"/>
                <a:ea typeface="Arial"/>
                <a:cs typeface="Arial"/>
              </a:defRPr>
            </a:pPr>
            <a:r>
              <a:rPr sz="1800" b="0">
                <a:solidFill>
                  <a:srgbClr val="173047"/>
                </a:solidFill>
                <a:latin typeface="Arial"/>
                <a:ea typeface="Arial"/>
                <a:cs typeface="Arial"/>
              </a:rPr>
              <a:t>150 appels par scénario</a:t>
            </a:r>
          </a:p>
          <a:p xmlns:a="http://schemas.openxmlformats.org/drawingml/2006/main">
            <a:pPr>
              <a:defRPr sz="1800" b="0">
                <a:solidFill>
                  <a:srgbClr val="173047"/>
                </a:solidFill>
                <a:latin typeface="Arial"/>
                <a:ea typeface="Arial"/>
                <a:cs typeface="Arial"/>
              </a:defRPr>
            </a:pPr>
            <a:r>
              <a:rPr sz="1800" b="0">
                <a:solidFill>
                  <a:srgbClr val="173047"/>
                </a:solidFill>
                <a:latin typeface="Arial"/>
                <a:ea typeface="Arial"/>
                <a:cs typeface="Arial"/>
              </a:rPr>
              <a:t>PostgreSQL 18.6, test séquentiel sur le poste local</a:t>
            </a:r>
          </a:p>
        </p:txBody>
      </p:sp>
    </p:spTree>
    <p:extLst>
      <p:ext uri="{BB962C8B-B14F-4D97-AF65-F5344CB8AC3E}">
        <p14:creationId xmlns:p14="http://schemas.microsoft.com/office/powerpoint/2010/main" val="560129400"/>
      </p:ext>
    </p:extLst>
  </p:cSld>
</p:sld>
</file>

<file path=ppt/slides/slide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40524BB-5C4E-43FF-B8D5-043166C0F6C8}"/>
              </a:ext>
            </a:extLst>
          </p:cNvPr>
          <p:cNvSpPr>
            <a:spLocks xmlns:a="http://schemas.openxmlformats.org/drawingml/2006/main" noGrp="1"/>
          </p:cNvSpPr>
          <p:nvPr/>
        </p:nvSpPr>
        <p:spPr>
          <a:xfrm xmlns:a="http://schemas.openxmlformats.org/drawingml/2006/main">
            <a:off x="714375" y="5238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047"/>
                </a:solidFill>
                <a:latin typeface="Arial"/>
                <a:ea typeface="Arial"/>
                <a:cs typeface="Arial"/>
              </a:defRPr>
            </a:pPr>
            <a:r>
              <a:rPr sz="3300" b="1">
                <a:solidFill>
                  <a:srgbClr val="173047"/>
                </a:solidFill>
                <a:latin typeface="Arial"/>
                <a:ea typeface="Arial"/>
                <a:cs typeface="Arial"/>
              </a:rPr>
              <a:t>La réécriture évite des comptages inutiles</a:t>
            </a:r>
          </a:p>
        </p:txBody>
      </p:sp>
      <p:sp>
        <p:nvSpPr>
          <p:cNvPr id="2" name="">
            <a:extLst xmlns:a="http://schemas.openxmlformats.org/drawingml/2006/main">
              <a:ext uri="{FF2B5EF4-FFF2-40B4-BE49-F238E27FC236}">
                <a16:creationId xmlns:a16="http://schemas.microsoft.com/office/drawing/2014/main" id="{74281F55-B6C6-4F74-A246-78DBE6FF794D}"/>
              </a:ext>
            </a:extLst>
          </p:cNvPr>
          <p:cNvSpPr>
            <a:spLocks xmlns:a="http://schemas.openxmlformats.org/drawingml/2006/main" noGrp="1"/>
          </p:cNvSpPr>
          <p:nvPr/>
        </p:nvSpPr>
        <p:spPr>
          <a:xfrm xmlns:a="http://schemas.openxmlformats.org/drawingml/2006/main">
            <a:off x="11096625" y="62865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8096"/>
                </a:solidFill>
                <a:latin typeface="Arial"/>
                <a:ea typeface="Arial"/>
                <a:cs typeface="Arial"/>
              </a:defRPr>
            </a:pPr>
            <a:r>
              <a:rPr sz="1350" b="0">
                <a:solidFill>
                  <a:srgbClr val="718096"/>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FE0FE4C6-5716-4A21-ACE0-B4AC99881E82}"/>
              </a:ext>
            </a:extLst>
          </p:cNvPr>
          <p:cNvSpPr>
            <a:spLocks xmlns:a="http://schemas.openxmlformats.org/drawingml/2006/main" noGrp="1"/>
          </p:cNvSpPr>
          <p:nvPr/>
        </p:nvSpPr>
        <p:spPr>
          <a:xfrm xmlns:a="http://schemas.openxmlformats.org/drawingml/2006/main">
            <a:off x="762000" y="1952625"/>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267F74"/>
                </a:solidFill>
                <a:latin typeface="Arial"/>
                <a:ea typeface="Arial"/>
                <a:cs typeface="Arial"/>
              </a:defRPr>
            </a:pPr>
            <a:r>
              <a:rPr sz="3675" b="1">
                <a:solidFill>
                  <a:srgbClr val="267F74"/>
                </a:solidFill>
                <a:latin typeface="Arial"/>
                <a:ea typeface="Arial"/>
                <a:cs typeface="Arial"/>
              </a:rPr>
              <a:t>28,9 % de temps moyen en moins</a:t>
            </a:r>
          </a:p>
        </p:txBody>
      </p:sp>
      <p:sp>
        <p:nvSpPr>
          <p:cNvPr id="4" name="">
            <a:extLst xmlns:a="http://schemas.openxmlformats.org/drawingml/2006/main">
              <a:ext uri="{FF2B5EF4-FFF2-40B4-BE49-F238E27FC236}">
                <a16:creationId xmlns:a16="http://schemas.microsoft.com/office/drawing/2014/main" id="{B17EA0F2-6224-46EC-B06E-96853525ECA7}"/>
              </a:ext>
            </a:extLst>
          </p:cNvPr>
          <p:cNvSpPr>
            <a:spLocks xmlns:a="http://schemas.openxmlformats.org/drawingml/2006/main" noGrp="1"/>
          </p:cNvSpPr>
          <p:nvPr/>
        </p:nvSpPr>
        <p:spPr>
          <a:xfrm xmlns:a="http://schemas.openxmlformats.org/drawingml/2006/main">
            <a:off x="762000" y="3476625"/>
            <a:ext cx="10477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047"/>
                </a:solidFill>
                <a:latin typeface="Arial"/>
                <a:ea typeface="Arial"/>
                <a:cs typeface="Arial"/>
              </a:defRPr>
            </a:pPr>
            <a:r>
              <a:rPr sz="2325" b="0">
                <a:solidFill>
                  <a:srgbClr val="173047"/>
                </a:solidFill>
                <a:latin typeface="Arial"/>
                <a:ea typeface="Arial"/>
                <a:cs typeface="Arial"/>
              </a:rPr>
              <a:t>30 répétitions pour chaque version</a:t>
            </a:r>
          </a:p>
          <a:p xmlns:a="http://schemas.openxmlformats.org/drawingml/2006/main">
            <a:pPr>
              <a:defRPr sz="2325" b="0">
                <a:solidFill>
                  <a:srgbClr val="173047"/>
                </a:solidFill>
                <a:latin typeface="Arial"/>
                <a:ea typeface="Arial"/>
                <a:cs typeface="Arial"/>
              </a:defRPr>
            </a:pPr>
            <a:r>
              <a:rPr sz="2325" b="0">
                <a:solidFill>
                  <a:srgbClr val="173047"/>
                </a:solidFill>
                <a:latin typeface="Arial"/>
                <a:ea typeface="Arial"/>
                <a:cs typeface="Arial"/>
              </a:rPr>
              <a:t>53 lignes identiques après comparaison</a:t>
            </a:r>
          </a:p>
          <a:p xmlns:a="http://schemas.openxmlformats.org/drawingml/2006/main">
            <a:pPr>
              <a:defRPr sz="2325" b="0">
                <a:solidFill>
                  <a:srgbClr val="173047"/>
                </a:solidFill>
                <a:latin typeface="Arial"/>
                <a:ea typeface="Arial"/>
                <a:cs typeface="Arial"/>
              </a:defRPr>
            </a:pPr>
            <a:r>
              <a:rPr sz="2325" b="0">
                <a:solidFill>
                  <a:srgbClr val="173047"/>
                </a:solidFill>
                <a:latin typeface="Arial"/>
                <a:ea typeface="Arial"/>
                <a:cs typeface="Arial"/>
              </a:rPr>
              <a:t>Plans EXPLAIN ANALYZE et buffers conservés</a:t>
            </a:r>
          </a:p>
        </p:txBody>
      </p:sp>
      <p:sp>
        <p:nvSpPr>
          <p:cNvPr id="5" name="">
            <a:extLst xmlns:a="http://schemas.openxmlformats.org/drawingml/2006/main">
              <a:ext uri="{FF2B5EF4-FFF2-40B4-BE49-F238E27FC236}">
                <a16:creationId xmlns:a16="http://schemas.microsoft.com/office/drawing/2014/main" id="{6769A3D7-EC4B-462B-87A2-D42FA4C8C847}"/>
              </a:ext>
            </a:extLst>
          </p:cNvPr>
          <p:cNvSpPr>
            <a:spLocks xmlns:a="http://schemas.openxmlformats.org/drawingml/2006/main" noGrp="1"/>
          </p:cNvSpPr>
          <p:nvPr/>
        </p:nvSpPr>
        <p:spPr>
          <a:xfrm xmlns:a="http://schemas.openxmlformats.org/drawingml/2006/main">
            <a:off x="762000" y="557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047"/>
                </a:solidFill>
                <a:latin typeface="Arial"/>
                <a:ea typeface="Arial"/>
                <a:cs typeface="Arial"/>
              </a:defRPr>
            </a:pPr>
            <a:r>
              <a:rPr sz="1875" b="0">
                <a:solidFill>
                  <a:srgbClr val="173047"/>
                </a:solidFill>
                <a:latin typeface="Arial"/>
                <a:ea typeface="Arial"/>
                <a:cs typeface="Arial"/>
              </a:rPr>
              <a:t>Les deux requêtes utilisent la dernière année du dump.</a:t>
            </a:r>
          </a:p>
        </p:txBody>
      </p:sp>
    </p:spTree>
    <p:extLst>
      <p:ext uri="{BB962C8B-B14F-4D97-AF65-F5344CB8AC3E}">
        <p14:creationId xmlns:p14="http://schemas.microsoft.com/office/powerpoint/2010/main" val="405674452"/>
      </p:ext>
    </p:extLst>
  </p:cSld>
</p:sld>
</file>

<file path=ppt/slides/slide1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0EEF0B1-AE72-4DF6-9FFC-B812C01C2687}"/>
              </a:ext>
            </a:extLst>
          </p:cNvPr>
          <p:cNvSpPr>
            <a:spLocks xmlns:a="http://schemas.openxmlformats.org/drawingml/2006/main" noGrp="1"/>
          </p:cNvSpPr>
          <p:nvPr/>
        </p:nvSpPr>
        <p:spPr>
          <a:xfrm xmlns:a="http://schemas.openxmlformats.org/drawingml/2006/main">
            <a:off x="714375" y="5238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047"/>
                </a:solidFill>
                <a:latin typeface="Arial"/>
                <a:ea typeface="Arial"/>
                <a:cs typeface="Arial"/>
              </a:defRPr>
            </a:pPr>
            <a:r>
              <a:rPr sz="3300" b="1">
                <a:solidFill>
                  <a:srgbClr val="173047"/>
                </a:solidFill>
                <a:latin typeface="Arial"/>
                <a:ea typeface="Arial"/>
                <a:cs typeface="Arial"/>
              </a:rPr>
              <a:t>Démonstration dans psql</a:t>
            </a:r>
          </a:p>
        </p:txBody>
      </p:sp>
      <p:sp>
        <p:nvSpPr>
          <p:cNvPr id="2" name="">
            <a:extLst xmlns:a="http://schemas.openxmlformats.org/drawingml/2006/main">
              <a:ext uri="{FF2B5EF4-FFF2-40B4-BE49-F238E27FC236}">
                <a16:creationId xmlns:a16="http://schemas.microsoft.com/office/drawing/2014/main" id="{8BAB5D34-9F0B-46F9-89C3-181AA64DA7EA}"/>
              </a:ext>
            </a:extLst>
          </p:cNvPr>
          <p:cNvSpPr>
            <a:spLocks xmlns:a="http://schemas.openxmlformats.org/drawingml/2006/main" noGrp="1"/>
          </p:cNvSpPr>
          <p:nvPr/>
        </p:nvSpPr>
        <p:spPr>
          <a:xfrm xmlns:a="http://schemas.openxmlformats.org/drawingml/2006/main">
            <a:off x="11096625" y="62865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8096"/>
                </a:solidFill>
                <a:latin typeface="Arial"/>
                <a:ea typeface="Arial"/>
                <a:cs typeface="Arial"/>
              </a:defRPr>
            </a:pPr>
            <a:r>
              <a:rPr sz="1350" b="0">
                <a:solidFill>
                  <a:srgbClr val="718096"/>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63BBDB86-049B-4765-9BC1-ED4C9A87E8B8}"/>
              </a:ext>
            </a:extLst>
          </p:cNvPr>
          <p:cNvSpPr>
            <a:spLocks xmlns:a="http://schemas.openxmlformats.org/drawingml/2006/main" noGrp="1"/>
          </p:cNvSpPr>
          <p:nvPr/>
        </p:nvSpPr>
        <p:spPr>
          <a:xfrm xmlns:a="http://schemas.openxmlformats.org/drawingml/2006/main">
            <a:off x="762000" y="2047875"/>
            <a:ext cx="106680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67F74"/>
                </a:solidFill>
                <a:latin typeface="Arial"/>
                <a:ea typeface="Arial"/>
                <a:cs typeface="Arial"/>
              </a:defRPr>
            </a:pPr>
            <a:r>
              <a:rPr sz="2100" b="0">
                <a:solidFill>
                  <a:srgbClr val="267F74"/>
                </a:solidFill>
                <a:latin typeface="Arial"/>
                <a:ea typeface="Arial"/>
                <a:cs typeface="Arial"/>
              </a:rPr>
              <a:t>SELECT * FROM advanced_search('coffee brewing');</a:t>
            </a:r>
          </a:p>
          <a:p xmlns:a="http://schemas.openxmlformats.org/drawingml/2006/main">
            <a:r>
              <a:t/>
            </a:r>
          </a:p>
          <a:p xmlns:a="http://schemas.openxmlformats.org/drawingml/2006/main">
            <a:pPr>
              <a:defRPr sz="2100" b="0">
                <a:solidFill>
                  <a:srgbClr val="267F74"/>
                </a:solidFill>
                <a:latin typeface="Arial"/>
                <a:ea typeface="Arial"/>
                <a:cs typeface="Arial"/>
              </a:defRPr>
            </a:pPr>
            <a:r>
              <a:rPr sz="2100" b="0">
                <a:solidFill>
                  <a:srgbClr val="267F74"/>
                </a:solidFill>
                <a:latin typeface="Arial"/>
                <a:ea typeface="Arial"/>
                <a:cs typeface="Arial"/>
              </a:rPr>
              <a:t>SELECT * FROM smart_search('espressso');</a:t>
            </a:r>
          </a:p>
          <a:p xmlns:a="http://schemas.openxmlformats.org/drawingml/2006/main">
            <a:r>
              <a:t/>
            </a:r>
          </a:p>
          <a:p xmlns:a="http://schemas.openxmlformats.org/drawingml/2006/main">
            <a:pPr>
              <a:defRPr sz="2100" b="0">
                <a:solidFill>
                  <a:srgbClr val="267F74"/>
                </a:solidFill>
                <a:latin typeface="Arial"/>
                <a:ea typeface="Arial"/>
                <a:cs typeface="Arial"/>
              </a:defRPr>
            </a:pPr>
            <a:r>
              <a:rPr sz="2100" b="0">
                <a:solidFill>
                  <a:srgbClr val="267F74"/>
                </a:solidFill>
                <a:latin typeface="Arial"/>
                <a:ea typeface="Arial"/>
                <a:cs typeface="Arial"/>
              </a:rPr>
              <a:t>SELECT get_dashboard_metrics();</a:t>
            </a:r>
          </a:p>
        </p:txBody>
      </p:sp>
      <p:sp>
        <p:nvSpPr>
          <p:cNvPr id="4" name="">
            <a:extLst xmlns:a="http://schemas.openxmlformats.org/drawingml/2006/main">
              <a:ext uri="{FF2B5EF4-FFF2-40B4-BE49-F238E27FC236}">
                <a16:creationId xmlns:a16="http://schemas.microsoft.com/office/drawing/2014/main" id="{1D057BEE-9331-4CC9-A1A3-566D6FFB8B04}"/>
              </a:ext>
            </a:extLst>
          </p:cNvPr>
          <p:cNvSpPr>
            <a:spLocks xmlns:a="http://schemas.openxmlformats.org/drawingml/2006/main" noGrp="1"/>
          </p:cNvSpPr>
          <p:nvPr/>
        </p:nvSpPr>
        <p:spPr>
          <a:xfrm xmlns:a="http://schemas.openxmlformats.org/drawingml/2006/main">
            <a:off x="762000" y="52863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047"/>
                </a:solidFill>
                <a:latin typeface="Arial"/>
                <a:ea typeface="Arial"/>
                <a:cs typeface="Arial"/>
              </a:defRPr>
            </a:pPr>
            <a:r>
              <a:rPr sz="2100" b="0">
                <a:solidFill>
                  <a:srgbClr val="173047"/>
                </a:solidFill>
                <a:latin typeface="Arial"/>
                <a:ea typeface="Arial"/>
                <a:cs typeface="Arial"/>
              </a:rPr>
              <a:t>Recherche et cache, puis rôle lecteur et tenant différent</a:t>
            </a:r>
          </a:p>
        </p:txBody>
      </p:sp>
    </p:spTree>
    <p:extLst>
      <p:ext uri="{BB962C8B-B14F-4D97-AF65-F5344CB8AC3E}">
        <p14:creationId xmlns:p14="http://schemas.microsoft.com/office/powerpoint/2010/main" val="679807523"/>
      </p:ext>
    </p:extLst>
  </p:cSld>
</p:sld>
</file>

<file path=ppt/slides/slide1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5888D46-6E7B-4EE8-9457-6479EF896AFF}"/>
              </a:ext>
            </a:extLst>
          </p:cNvPr>
          <p:cNvSpPr>
            <a:spLocks xmlns:a="http://schemas.openxmlformats.org/drawingml/2006/main" noGrp="1"/>
          </p:cNvSpPr>
          <p:nvPr/>
        </p:nvSpPr>
        <p:spPr>
          <a:xfrm xmlns:a="http://schemas.openxmlformats.org/drawingml/2006/main">
            <a:off x="714375" y="5238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047"/>
                </a:solidFill>
                <a:latin typeface="Arial"/>
                <a:ea typeface="Arial"/>
                <a:cs typeface="Arial"/>
              </a:defRPr>
            </a:pPr>
            <a:r>
              <a:rPr sz="3300" b="1">
                <a:solidFill>
                  <a:srgbClr val="173047"/>
                </a:solidFill>
                <a:latin typeface="Arial"/>
                <a:ea typeface="Arial"/>
                <a:cs typeface="Arial"/>
              </a:rPr>
              <a:t>Limites et questions</a:t>
            </a:r>
          </a:p>
        </p:txBody>
      </p:sp>
      <p:sp>
        <p:nvSpPr>
          <p:cNvPr id="2" name="">
            <a:extLst xmlns:a="http://schemas.openxmlformats.org/drawingml/2006/main">
              <a:ext uri="{FF2B5EF4-FFF2-40B4-BE49-F238E27FC236}">
                <a16:creationId xmlns:a16="http://schemas.microsoft.com/office/drawing/2014/main" id="{68B0D75F-DB91-40A6-87A2-2BED572DCC1F}"/>
              </a:ext>
            </a:extLst>
          </p:cNvPr>
          <p:cNvSpPr>
            <a:spLocks xmlns:a="http://schemas.openxmlformats.org/drawingml/2006/main" noGrp="1"/>
          </p:cNvSpPr>
          <p:nvPr/>
        </p:nvSpPr>
        <p:spPr>
          <a:xfrm xmlns:a="http://schemas.openxmlformats.org/drawingml/2006/main">
            <a:off x="11096625" y="62865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18096"/>
                </a:solidFill>
                <a:latin typeface="Arial"/>
                <a:ea typeface="Arial"/>
                <a:cs typeface="Arial"/>
              </a:defRPr>
            </a:pPr>
            <a:r>
              <a:rPr sz="1350" b="0">
                <a:solidFill>
                  <a:srgbClr val="718096"/>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6012C123-280A-463C-8E12-3E9F0E6EF800}"/>
              </a:ext>
            </a:extLst>
          </p:cNvPr>
          <p:cNvSpPr>
            <a:spLocks xmlns:a="http://schemas.openxmlformats.org/drawingml/2006/main" noGrp="1"/>
          </p:cNvSpPr>
          <p:nvPr/>
        </p:nvSpPr>
        <p:spPr>
          <a:xfrm xmlns:a="http://schemas.openxmlformats.org/drawingml/2006/main">
            <a:off x="762000" y="1952625"/>
            <a:ext cx="10572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047"/>
                </a:solidFill>
                <a:latin typeface="Arial"/>
                <a:ea typeface="Arial"/>
                <a:cs typeface="Arial"/>
              </a:defRPr>
            </a:pPr>
            <a:r>
              <a:rPr sz="2325" b="0">
                <a:solidFill>
                  <a:srgbClr val="173047"/>
                </a:solidFill>
                <a:latin typeface="Arial"/>
                <a:ea typeface="Arial"/>
                <a:cs typeface="Arial"/>
              </a:rPr>
              <a:t>Un petit dump ne représente pas la charge d’un grand site.</a:t>
            </a:r>
          </a:p>
          <a:p xmlns:a="http://schemas.openxmlformats.org/drawingml/2006/main">
            <a:r>
              <a:t/>
            </a:r>
          </a:p>
          <a:p xmlns:a="http://schemas.openxmlformats.org/drawingml/2006/main">
            <a:pPr>
              <a:defRPr sz="2325" b="0">
                <a:solidFill>
                  <a:srgbClr val="173047"/>
                </a:solidFill>
                <a:latin typeface="Arial"/>
                <a:ea typeface="Arial"/>
                <a:cs typeface="Arial"/>
              </a:defRPr>
            </a:pPr>
            <a:r>
              <a:rPr sz="2325" b="0">
                <a:solidFill>
                  <a:srgbClr val="173047"/>
                </a:solidFill>
                <a:latin typeface="Arial"/>
                <a:ea typeface="Arial"/>
                <a:cs typeface="Arial"/>
              </a:rPr>
              <a:t>Le contexte de sécurité doit venir d’un serveur authentifié.</a:t>
            </a:r>
          </a:p>
          <a:p xmlns:a="http://schemas.openxmlformats.org/drawingml/2006/main">
            <a:r>
              <a:t/>
            </a:r>
          </a:p>
          <a:p xmlns:a="http://schemas.openxmlformats.org/drawingml/2006/main">
            <a:pPr>
              <a:defRPr sz="2325" b="0">
                <a:solidFill>
                  <a:srgbClr val="173047"/>
                </a:solidFill>
                <a:latin typeface="Arial"/>
                <a:ea typeface="Arial"/>
                <a:cs typeface="Arial"/>
              </a:defRPr>
            </a:pPr>
            <a:r>
              <a:rPr sz="2325" b="0">
                <a:solidFill>
                  <a:srgbClr val="173047"/>
                </a:solidFill>
                <a:latin typeface="Arial"/>
                <a:ea typeface="Arial"/>
                <a:cs typeface="Arial"/>
              </a:rPr>
              <a:t>Les scripts et les mesures se relancent depuis le dépôt.</a:t>
            </a:r>
          </a:p>
        </p:txBody>
      </p:sp>
      <p:sp>
        <p:nvSpPr>
          <p:cNvPr id="4" name="">
            <a:extLst xmlns:a="http://schemas.openxmlformats.org/drawingml/2006/main">
              <a:ext uri="{FF2B5EF4-FFF2-40B4-BE49-F238E27FC236}">
                <a16:creationId xmlns:a16="http://schemas.microsoft.com/office/drawing/2014/main" id="{A5E034D8-373E-4F25-AB08-A9BEED45C309}"/>
              </a:ext>
            </a:extLst>
          </p:cNvPr>
          <p:cNvSpPr>
            <a:spLocks xmlns:a="http://schemas.openxmlformats.org/drawingml/2006/main" noGrp="1"/>
          </p:cNvSpPr>
          <p:nvPr/>
        </p:nvSpPr>
        <p:spPr>
          <a:xfrm xmlns:a="http://schemas.openxmlformats.org/drawingml/2006/main">
            <a:off x="762000" y="5286375"/>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267F74"/>
                </a:solidFill>
                <a:latin typeface="Arial"/>
                <a:ea typeface="Arial"/>
                <a:cs typeface="Arial"/>
              </a:defRPr>
            </a:pPr>
            <a:r>
              <a:rPr sz="3225" b="1">
                <a:solidFill>
                  <a:srgbClr val="267F74"/>
                </a:solidFill>
                <a:latin typeface="Arial"/>
                <a:ea typeface="Arial"/>
                <a:cs typeface="Arial"/>
              </a:rPr>
              <a:t>Questions</a:t>
            </a:r>
          </a:p>
        </p:txBody>
      </p:sp>
    </p:spTree>
    <p:extLst>
      <p:ext uri="{BB962C8B-B14F-4D97-AF65-F5344CB8AC3E}">
        <p14:creationId xmlns:p14="http://schemas.microsoft.com/office/powerpoint/2010/main" val="17238468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2026-09-14T09:01:55.0170000Z</dcterms:created>
  <dcterms:modified xsi:type="dcterms:W3CDTF">2026-09-14T09:01:55.0170000Z</dcterms:modified>
</coreProperties>
</file>